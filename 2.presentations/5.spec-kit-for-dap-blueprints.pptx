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0C000A-F15E-CDEB-5FF0-3591E52921F2}" name="Daniels, Michelle" initials="DM" userId="S::michelle_daniels@dell.com::068e6cfe-dc47-43fe-8b35-a3a67322fa9c" providerId="AD"/>
  <p188:author id="{1D511275-967C-2AE7-D834-C852EF495766}" name="Daniels, Michelle" initials="MD" userId="S::Michelle_Daniels@Dell.com::068e6cfe-dc47-43fe-8b35-a3a67322fa9c" providerId="AD"/>
  <p188:author id="{ED2983AF-9298-20EC-AEF1-8D41B4975210}" name="Gonzales, Dionne" initials="DG" userId="S::Dionne_Gonzales@Dell.com::4e7974cd-2679-40c4-86d8-b9a4d317dfc5" providerId="AD"/>
  <p188:author id="{374E5DB5-84AC-8B4E-C77D-C73014835CAD}" name="Gonzales, Dionne" initials="GD" userId="S::dionne_gonzales@dell.com::4e7974cd-2679-40c4-86d8-b9a4d317dfc5" providerId="AD"/>
  <p188:author id="{82CCC5B6-CD32-E5B0-E0EF-0830A25402C4}" name="Dawson, John" initials="JD" userId="S::J.Dawson@dell.com::af5fcba0-fba6-4a8d-8b8c-c882628aa348" providerId="AD"/>
  <p188:author id="{F00F52F7-4E7B-29BA-A725-5D62A1133A93}" name="Lorincova, Katarina" initials="" userId="S::Katarina_Lorincova@Dell.com::a658c2af-9125-48b0-ac2b-a8cc15ee2a0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586D"/>
    <a:srgbClr val="D2D2D2"/>
    <a:srgbClr val="66278F"/>
    <a:srgbClr val="B6B6B6"/>
    <a:srgbClr val="E5E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ders, Robert" userId="fbb7e790-7c81-43ad-9c38-b18cbf2e2b1d" providerId="ADAL" clId="{7ABE44DF-A0B6-4B62-B7EB-FDE3DD496FE5}"/>
    <pc:docChg chg="mod modMainMaster">
      <pc:chgData name="Sonders, Robert" userId="fbb7e790-7c81-43ad-9c38-b18cbf2e2b1d" providerId="ADAL" clId="{7ABE44DF-A0B6-4B62-B7EB-FDE3DD496FE5}" dt="2026-07-04T00:13:23.431" v="3" actId="33475"/>
      <pc:docMkLst>
        <pc:docMk/>
      </pc:docMkLst>
      <pc:sldMasterChg chg="addSp delSp mod">
        <pc:chgData name="Sonders, Robert" userId="fbb7e790-7c81-43ad-9c38-b18cbf2e2b1d" providerId="ADAL" clId="{7ABE44DF-A0B6-4B62-B7EB-FDE3DD496FE5}" dt="2026-07-04T00:13:23.429" v="2" actId="33475"/>
        <pc:sldMasterMkLst>
          <pc:docMk/>
          <pc:sldMasterMk cId="550481734" sldId="2147483648"/>
        </pc:sldMasterMkLst>
        <pc:spChg chg="add del">
          <ac:chgData name="Sonders, Robert" userId="fbb7e790-7c81-43ad-9c38-b18cbf2e2b1d" providerId="ADAL" clId="{7ABE44DF-A0B6-4B62-B7EB-FDE3DD496FE5}" dt="2026-07-04T00:13:23.429" v="2" actId="33475"/>
          <ac:spMkLst>
            <pc:docMk/>
            <pc:sldMasterMk cId="550481734" sldId="2147483648"/>
            <ac:spMk id="3" creationId="{F9A21873-0353-5A5B-C755-8BAC45993B04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CDFCB21-1E6F-50A3-E0FB-4E5876AC9F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C7EDF-3DD7-8C3C-CB07-889044169C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1D599-9EB2-46E2-AC39-602382AE348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4EC8E-89EA-93B5-9F90-507CD528B9E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34D8C-926E-0A26-98B4-CA787A0776F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EEA91-EA4F-4E9B-8E41-4498703D9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75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E8E08-BC0D-4F7B-8FE8-F3B7386FBAA7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7301-2725-4FFF-B33E-C13F64EB0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7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366544EA-090D-4754-BF2B-7E73886E3793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16465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EEE540F-F32F-ACFB-63DF-516E08093657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405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A222BE9-A049-CD29-C5E1-0C57482DBC7A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DAE177-2ADE-7BF3-92D9-F9B7E6A98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099155"/>
            <a:ext cx="548640" cy="134471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AC71E2-5BFD-234C-4016-6842B4F875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29E9C44-E8DE-15CC-8593-1D75D2287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1170" y="3635531"/>
            <a:ext cx="7950937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70AA270-DB4B-D4E4-01A3-5E76A5D6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38" y="1282334"/>
            <a:ext cx="7997943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36852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037B9-85E0-9D2D-D4DD-C2F353DC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3"/>
            <a:ext cx="9715500" cy="747897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16C5C2-17B1-0BAB-BE8C-305DB6C0A3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A4E0E02-D811-0864-32FB-31649EB50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1363" indent="-284163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400259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8684917-6517-4801-D799-032C14CD0F6D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434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172566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29884817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Midnight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55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Midnight/Dell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093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Midnight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17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956E6A-F5A7-AAD1-EB8C-081A85CB33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196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41159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37926982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aven/Dell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40586D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409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Raven/Dell Blue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269709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aven/Del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087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49EFE44-2848-7F23-2E65-C2432B66EDA9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8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3A8302-7725-CC2D-50F0-19C249DD9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16218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17BC2F-04DA-81D3-C357-B1A1B22D6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3716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Teal/Fores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71682E-23C4-24FB-FA91-6363C0063C6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B87288-D95C-3502-9D22-3B1836AC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13ADEF55-295F-70CA-1CFE-66FAB5020A3A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7" name="Content Placeholder 11">
            <a:extLst>
              <a:ext uri="{FF2B5EF4-FFF2-40B4-BE49-F238E27FC236}">
                <a16:creationId xmlns:a16="http://schemas.microsoft.com/office/drawing/2014/main" id="{60F0AC9E-B6D9-3325-1E5A-4C3F85654187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37357191-2ABA-F6D5-3676-E3FFE044C1C8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48AD6-BABB-92CA-C41C-2FC7E1E3E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761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Teal/Fore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E6FC7-4917-CF88-A22A-67F16297CC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5375E4-FD7C-1863-274E-160A7140FB9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82069647-EBF5-C050-174A-40E287CA4B1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DADDB5-902B-1244-A68C-82D604A763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7DB779-DAEF-67BD-EFA7-1128DE074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4" name="Content Placeholder 9">
            <a:extLst>
              <a:ext uri="{FF2B5EF4-FFF2-40B4-BE49-F238E27FC236}">
                <a16:creationId xmlns:a16="http://schemas.microsoft.com/office/drawing/2014/main" id="{FAF49F2C-132F-D956-0103-F99A393A67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2092A01-B82C-CF43-ABF2-C369482E7560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81353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osmos/Fore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986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FFB6DC9E-6879-DB58-7ED2-F90BA9672D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E84832A-B523-8290-24BC-7E21F74DB989}"/>
              </a:ext>
            </a:extLst>
          </p:cNvPr>
          <p:cNvSpPr>
            <a:spLocks/>
          </p:cNvSpPr>
          <p:nvPr userDrawn="1"/>
        </p:nvSpPr>
        <p:spPr>
          <a:xfrm>
            <a:off x="10153650" y="6286500"/>
            <a:ext cx="1885950" cy="571499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0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799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1"/>
                </a:solidFill>
                <a:latin typeface="Arial "/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30254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8D3F8-2C6C-6419-483A-A6C9DC09A37C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0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00415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w/photo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5D59AC4-89BF-88E0-0B9A-ADE4E08A082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067050" cy="6858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n>
                <a:noFill/>
              </a:ln>
              <a:noFill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0"/>
            <a:ext cx="2286000" cy="371475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67050" y="0"/>
            <a:ext cx="912495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</p:spTree>
    <p:extLst>
      <p:ext uri="{BB962C8B-B14F-4D97-AF65-F5344CB8AC3E}">
        <p14:creationId xmlns:p14="http://schemas.microsoft.com/office/powerpoint/2010/main" val="4937070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Dusk/Plum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0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 hasCustomPrompt="1"/>
          </p:nvPr>
        </p:nvSpPr>
        <p:spPr>
          <a:xfrm>
            <a:off x="44386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 hasCustomPrompt="1"/>
          </p:nvPr>
        </p:nvSpPr>
        <p:spPr>
          <a:xfrm>
            <a:off x="5524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algn="ctr"/>
            <a:r>
              <a:rPr lang="en-US">
                <a:solidFill>
                  <a:schemeClr val="bg2"/>
                </a:solidFill>
              </a:rPr>
              <a:t>These boxes can be used for text, photos, icons, quotes, etc.</a:t>
            </a:r>
          </a:p>
          <a:p>
            <a:pPr algn="ctr"/>
            <a:r>
              <a:rPr lang="en-US">
                <a:solidFill>
                  <a:schemeClr val="bg2"/>
                </a:solidFill>
              </a:rPr>
              <a:t>Can be moved or deleted.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8324850" y="2228850"/>
            <a:ext cx="3314700" cy="3314700"/>
          </a:xfrm>
          <a:prstGeom prst="rect">
            <a:avLst/>
          </a:prstGeom>
          <a:solidFill>
            <a:schemeClr val="tx1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r>
              <a:rPr lang="en-US"/>
              <a:t>Click icon to add picture.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0106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bar w/photo Dusk/Plum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3829050"/>
            <a:ext cx="457200" cy="114300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3829050"/>
            <a:ext cx="5715000" cy="2343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1"/>
                </a:solidFill>
              </a:defRPr>
            </a:lvl1pPr>
            <a:lvl2pPr marL="342900" indent="-34290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>
                <a:solidFill>
                  <a:schemeClr val="tx1"/>
                </a:solidFill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55043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usk/Plu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68ACC7-8EB3-3777-94F1-2D5FF7F38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647347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8A0713-16B4-85B9-9747-E21C7624E2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01170" y="3103523"/>
            <a:ext cx="548640" cy="134471"/>
          </a:xfrm>
          <a:prstGeom prst="rect">
            <a:avLst/>
          </a:prstGeom>
          <a:solidFill>
            <a:srgbClr val="66278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9246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2279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28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F1C11A-D2F8-6FB5-BF86-6BAE985D7E1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682821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6FDEC5-669E-1290-C6B1-AAD6D591AF3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111536A-C42E-9259-AF7B-CE2F6E83D4B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81657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73" indent="-152396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60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49" indent="-22859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691E28-6DB6-B317-230D-EA9AF48AD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001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A85B91E-30A3-F97B-BA43-57B6B049DE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FDAAF5BB-4B68-17DF-1B25-B24D35D4001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24600" y="1374370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30712" indent="-230712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defRPr sz="1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30712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0855" indent="-224361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4AA7879-C82E-8948-AD02-9A32AC0A75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670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0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776682E0-CE1F-AA61-18BC-3F9A7D3B7A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1FA84DA-CD6B-2917-FB96-970809AEE5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32394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801A5972-D45A-AFDC-7AF1-E84E7AF7D0F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283788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594" indent="-228594">
              <a:lnSpc>
                <a:spcPct val="100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85783" indent="-228594">
              <a:lnSpc>
                <a:spcPct val="100000"/>
              </a:lnSpc>
              <a:spcBef>
                <a:spcPts val="600"/>
              </a:spcBef>
              <a:buClr>
                <a:schemeClr val="bg2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49" indent="-22859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87A7032-639A-5411-6118-BBA499122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486" y="857250"/>
            <a:ext cx="11425529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71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9FB5CBE-8FB3-AD47-E13E-A0AD6C26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-50326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029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Cosm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B6F1130-2447-2F8F-D6CA-4D4B8D097E95}"/>
              </a:ext>
            </a:extLst>
          </p:cNvPr>
          <p:cNvPicPr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9733253-4A33-BEC0-24F2-891BAD9AA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16262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Raven">
    <p:bg>
      <p:bgPr>
        <a:solidFill>
          <a:srgbClr val="4058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B63F84D-D504-A280-C4DF-3A404C91A3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1BF1CE4-153A-85AA-B235-515D0ECC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36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 Dell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B2209E-1FAF-A750-E461-F5A96B1385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62515BD-28D6-59CF-B1CD-2360F096E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0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22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C998778-5258-3322-48F3-EA6BBD2A4894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9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D0E95807-F374-4095-7824-1009D90927D6}"/>
              </a:ext>
            </a:extLst>
          </p:cNvPr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430652FF-3D95-8823-86D1-56EE9D45B67C}"/>
              </a:ext>
            </a:extLst>
          </p:cNvPr>
          <p:cNvSpPr txBox="1"/>
          <p:nvPr userDrawn="1"/>
        </p:nvSpPr>
        <p:spPr>
          <a:xfrm>
            <a:off x="5120251" y="6702028"/>
            <a:ext cx="94577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481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79" r:id="rId29"/>
    <p:sldLayoutId id="2147483774" r:id="rId30"/>
    <p:sldLayoutId id="2147483751" r:id="rId31"/>
    <p:sldLayoutId id="2147483775" r:id="rId32"/>
    <p:sldLayoutId id="2147483776" r:id="rId33"/>
    <p:sldLayoutId id="2147483777" r:id="rId34"/>
    <p:sldLayoutId id="2147483778" r:id="rId35"/>
    <p:sldLayoutId id="2147483780" r:id="rId36"/>
    <p:sldLayoutId id="2147483749" r:id="rId37"/>
    <p:sldLayoutId id="2147483750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Spec-Driven Development for Dell Automation Platform blueprints </a:t>
            </a:r>
            <a:r>
              <a:rPr lang="en-GB" dirty="0"/>
              <a:t>-</a:t>
            </a:r>
            <a:r>
              <a:rPr dirty="0"/>
              <a:t> a getting-started guide with Spec Kit and Blueprint Assist.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Idea to Running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AI can write your automation in minutes.</a:t>
            </a:r>
          </a:p>
          <a:p>
            <a:r>
              <a:rPr sz="4000" dirty="0"/>
              <a:t>Keeping it correct, consistent, and maintainable </a:t>
            </a:r>
            <a:r>
              <a:rPr lang="en-GB" sz="4000" dirty="0"/>
              <a:t>-</a:t>
            </a:r>
            <a:r>
              <a:rPr sz="4000" dirty="0"/>
              <a:t> that's the hard 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Prompt-driven automation loses the plot</a:t>
            </a:r>
          </a:p>
        </p:txBody>
      </p:sp>
      <p:sp>
        <p:nvSpPr>
          <p:cNvPr id="3" name="anim00_bubble"/>
          <p:cNvSpPr/>
          <p:nvPr/>
        </p:nvSpPr>
        <p:spPr>
          <a:xfrm>
            <a:off x="640080" y="13716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 Nova"/>
              </a:rPr>
              <a:t>“Build me a VM blueprint”</a:t>
            </a:r>
          </a:p>
        </p:txBody>
      </p:sp>
      <p:sp>
        <p:nvSpPr>
          <p:cNvPr id="4" name="anim01_bubble"/>
          <p:cNvSpPr/>
          <p:nvPr/>
        </p:nvSpPr>
        <p:spPr>
          <a:xfrm>
            <a:off x="1920240" y="20574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[ 400 lines of YAML ]</a:t>
            </a:r>
          </a:p>
        </p:txBody>
      </p:sp>
      <p:sp>
        <p:nvSpPr>
          <p:cNvPr id="5" name="anim02_bubble"/>
          <p:cNvSpPr/>
          <p:nvPr/>
        </p:nvSpPr>
        <p:spPr>
          <a:xfrm>
            <a:off x="640080" y="27432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 Nova"/>
              </a:rPr>
              <a:t>“Actually, add networking”</a:t>
            </a:r>
          </a:p>
        </p:txBody>
      </p:sp>
      <p:sp>
        <p:nvSpPr>
          <p:cNvPr id="6" name="anim03_bubble"/>
          <p:cNvSpPr/>
          <p:nvPr/>
        </p:nvSpPr>
        <p:spPr>
          <a:xfrm>
            <a:off x="1920240" y="34290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[ patch ]</a:t>
            </a:r>
          </a:p>
        </p:txBody>
      </p:sp>
      <p:sp>
        <p:nvSpPr>
          <p:cNvPr id="7" name="anim04_bubble"/>
          <p:cNvSpPr/>
          <p:nvPr/>
        </p:nvSpPr>
        <p:spPr>
          <a:xfrm>
            <a:off x="640080" y="41148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rial Nova"/>
              </a:rPr>
              <a:t>“Now make it HA”</a:t>
            </a:r>
          </a:p>
        </p:txBody>
      </p:sp>
      <p:sp>
        <p:nvSpPr>
          <p:cNvPr id="8" name="anim05_bubble"/>
          <p:cNvSpPr/>
          <p:nvPr/>
        </p:nvSpPr>
        <p:spPr>
          <a:xfrm>
            <a:off x="1920240" y="4800600"/>
            <a:ext cx="3840480" cy="566928"/>
          </a:xfrm>
          <a:prstGeom prst="roundRect">
            <a:avLst>
              <a:gd name="adj" fmla="val 350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Consolas"/>
              </a:rPr>
              <a:t>[ patch on a patch ]</a:t>
            </a:r>
          </a:p>
        </p:txBody>
      </p:sp>
      <p:sp>
        <p:nvSpPr>
          <p:cNvPr id="9" name="anim06_note"/>
          <p:cNvSpPr txBox="1"/>
          <p:nvPr/>
        </p:nvSpPr>
        <p:spPr>
          <a:xfrm>
            <a:off x="640080" y="56235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3F205C"/>
                </a:solidFill>
                <a:latin typeface="Arial Nova Light"/>
              </a:rPr>
              <a:t>…and none of it is written down anywhere.</a:t>
            </a:r>
          </a:p>
        </p:txBody>
      </p:sp>
      <p:sp>
        <p:nvSpPr>
          <p:cNvPr id="10" name="anim07_later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5500"/>
            </a:avLst>
          </a:prstGeom>
          <a:solidFill>
            <a:srgbClr val="3F2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07_h"/>
          <p:cNvSpPr txBox="1"/>
          <p:nvPr/>
        </p:nvSpPr>
        <p:spPr>
          <a:xfrm>
            <a:off x="7040880" y="1828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1">
                <a:solidFill>
                  <a:srgbClr val="C9D7E8"/>
                </a:solidFill>
                <a:latin typeface="Arial Nova Light"/>
              </a:rPr>
              <a:t>SIX MONTHS LATER</a:t>
            </a:r>
          </a:p>
        </p:txBody>
      </p:sp>
      <p:sp>
        <p:nvSpPr>
          <p:cNvPr id="12" name="anim07_qs"/>
          <p:cNvSpPr txBox="1"/>
          <p:nvPr/>
        </p:nvSpPr>
        <p:spPr>
          <a:xfrm>
            <a:off x="7040880" y="2468880"/>
            <a:ext cx="4206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FFFFFF"/>
                </a:solidFill>
                <a:latin typeface="Arial Nova Light"/>
              </a:rPr>
              <a:t>“Why does it work this way?”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FFFFFF"/>
                </a:solidFill>
                <a:latin typeface="Arial Nova Light"/>
              </a:rPr>
              <a:t>“Who asked for that?”</a:t>
            </a:r>
          </a:p>
          <a:p>
            <a:pPr algn="l">
              <a:lnSpc>
                <a:spcPct val="112000"/>
              </a:lnSpc>
              <a:spcAft>
                <a:spcPts val="1800"/>
              </a:spcAft>
            </a:pPr>
            <a:r>
              <a:rPr sz="1700" b="0">
                <a:solidFill>
                  <a:srgbClr val="FFFFFF"/>
                </a:solidFill>
                <a:latin typeface="Arial Nova Light"/>
              </a:rPr>
              <a:t>“Can we change it safely?”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Nobody knows. The intent lived in a chat window.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878" y="3784507"/>
            <a:ext cx="10839809" cy="2676747"/>
          </a:xfrm>
        </p:spPr>
        <p:txBody>
          <a:bodyPr/>
          <a:lstStyle/>
          <a:p>
            <a:r>
              <a:rPr sz="4000" dirty="0"/>
              <a:t>Write down what you want before the AI builds it.</a:t>
            </a:r>
          </a:p>
          <a:p>
            <a:r>
              <a:rPr sz="4000" dirty="0"/>
              <a:t>Keep that document alive.</a:t>
            </a:r>
          </a:p>
          <a:p>
            <a:r>
              <a:rPr sz="4000" dirty="0"/>
              <a:t>That's spec-driven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artifacts. Each one narrows the next.</a:t>
            </a:r>
          </a:p>
        </p:txBody>
      </p:sp>
      <p:sp>
        <p:nvSpPr>
          <p:cNvPr id="3" name="anim00_stage"/>
          <p:cNvSpPr/>
          <p:nvPr/>
        </p:nvSpPr>
        <p:spPr>
          <a:xfrm>
            <a:off x="548640" y="1920239"/>
            <a:ext cx="2240280" cy="3291840"/>
          </a:xfrm>
          <a:prstGeom prst="chevron">
            <a:avLst>
              <a:gd name="adj" fmla="val 35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00_stagelbl"/>
          <p:cNvSpPr txBox="1"/>
          <p:nvPr/>
        </p:nvSpPr>
        <p:spPr>
          <a:xfrm>
            <a:off x="640080" y="3268979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dirty="0">
                <a:solidFill>
                  <a:srgbClr val="FFFFFF"/>
                </a:solidFill>
                <a:latin typeface="Arial Nova Light"/>
              </a:rPr>
              <a:t>Constitution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dirty="0">
                <a:solidFill>
                  <a:srgbClr val="C9D7E8"/>
                </a:solidFill>
                <a:latin typeface="Arial Nova Light"/>
              </a:rPr>
              <a:t>the rules</a:t>
            </a:r>
          </a:p>
        </p:txBody>
      </p:sp>
      <p:sp>
        <p:nvSpPr>
          <p:cNvPr id="5" name="anim01_stage"/>
          <p:cNvSpPr/>
          <p:nvPr/>
        </p:nvSpPr>
        <p:spPr>
          <a:xfrm>
            <a:off x="2862072" y="2148839"/>
            <a:ext cx="2240280" cy="2834640"/>
          </a:xfrm>
          <a:prstGeom prst="chevron">
            <a:avLst>
              <a:gd name="adj" fmla="val 35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01_stagelbl"/>
          <p:cNvSpPr txBox="1"/>
          <p:nvPr/>
        </p:nvSpPr>
        <p:spPr>
          <a:xfrm>
            <a:off x="2985516" y="3259835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dirty="0">
                <a:solidFill>
                  <a:srgbClr val="FFFFFF"/>
                </a:solidFill>
                <a:latin typeface="Arial Nova Light"/>
              </a:rPr>
              <a:t>Spec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dirty="0">
                <a:solidFill>
                  <a:srgbClr val="C9D7E8"/>
                </a:solidFill>
                <a:latin typeface="Arial Nova Light"/>
              </a:rPr>
              <a:t>what &amp; why</a:t>
            </a:r>
          </a:p>
        </p:txBody>
      </p:sp>
      <p:sp>
        <p:nvSpPr>
          <p:cNvPr id="7" name="anim02_stage"/>
          <p:cNvSpPr/>
          <p:nvPr/>
        </p:nvSpPr>
        <p:spPr>
          <a:xfrm>
            <a:off x="5175504" y="2377439"/>
            <a:ext cx="2240280" cy="2377440"/>
          </a:xfrm>
          <a:prstGeom prst="chevron">
            <a:avLst>
              <a:gd name="adj" fmla="val 35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im02_stagelbl"/>
          <p:cNvSpPr txBox="1"/>
          <p:nvPr/>
        </p:nvSpPr>
        <p:spPr>
          <a:xfrm>
            <a:off x="5305806" y="3220974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dirty="0">
                <a:solidFill>
                  <a:srgbClr val="FFFFFF"/>
                </a:solidFill>
                <a:latin typeface="Arial Nova Light"/>
              </a:rPr>
              <a:t>Plan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dirty="0">
                <a:solidFill>
                  <a:srgbClr val="C9D7E8"/>
                </a:solidFill>
                <a:latin typeface="Arial Nova Light"/>
              </a:rPr>
              <a:t>how</a:t>
            </a:r>
          </a:p>
        </p:txBody>
      </p:sp>
      <p:sp>
        <p:nvSpPr>
          <p:cNvPr id="9" name="anim03_stage"/>
          <p:cNvSpPr/>
          <p:nvPr/>
        </p:nvSpPr>
        <p:spPr>
          <a:xfrm>
            <a:off x="7488936" y="2606039"/>
            <a:ext cx="2240280" cy="1920240"/>
          </a:xfrm>
          <a:prstGeom prst="chevron">
            <a:avLst>
              <a:gd name="adj" fmla="val 350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03_stagelbl"/>
          <p:cNvSpPr txBox="1"/>
          <p:nvPr/>
        </p:nvSpPr>
        <p:spPr>
          <a:xfrm>
            <a:off x="7517511" y="3218687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dirty="0">
                <a:solidFill>
                  <a:srgbClr val="FFFFFF"/>
                </a:solidFill>
                <a:latin typeface="Arial Nova Light"/>
              </a:rPr>
              <a:t>Tasks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dirty="0">
                <a:solidFill>
                  <a:srgbClr val="C9D7E8"/>
                </a:solidFill>
                <a:latin typeface="Arial Nova Light"/>
              </a:rPr>
              <a:t>the steps</a:t>
            </a:r>
          </a:p>
        </p:txBody>
      </p:sp>
      <p:sp>
        <p:nvSpPr>
          <p:cNvPr id="11" name="anim04_stage"/>
          <p:cNvSpPr/>
          <p:nvPr/>
        </p:nvSpPr>
        <p:spPr>
          <a:xfrm>
            <a:off x="9802368" y="2834639"/>
            <a:ext cx="2240280" cy="1463040"/>
          </a:xfrm>
          <a:prstGeom prst="chevron">
            <a:avLst>
              <a:gd name="adj" fmla="val 35000"/>
            </a:avLst>
          </a:prstGeom>
          <a:solidFill>
            <a:srgbClr val="0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04_stagelbl"/>
          <p:cNvSpPr txBox="1"/>
          <p:nvPr/>
        </p:nvSpPr>
        <p:spPr>
          <a:xfrm>
            <a:off x="9757791" y="3227830"/>
            <a:ext cx="2514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dirty="0">
                <a:solidFill>
                  <a:srgbClr val="FFFFFF"/>
                </a:solidFill>
                <a:latin typeface="Arial Nova Light"/>
              </a:rPr>
              <a:t>Code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 dirty="0">
                <a:solidFill>
                  <a:srgbClr val="C9D7E8"/>
                </a:solidFill>
                <a:latin typeface="Arial Nova Light"/>
              </a:rPr>
              <a:t>the blueprint</a:t>
            </a:r>
          </a:p>
        </p:txBody>
      </p:sp>
      <p:sp>
        <p:nvSpPr>
          <p:cNvPr id="13" name="anim05_caption"/>
          <p:cNvSpPr txBox="1"/>
          <p:nvPr/>
        </p:nvSpPr>
        <p:spPr>
          <a:xfrm>
            <a:off x="640080" y="5577840"/>
            <a:ext cx="10972800" cy="65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800" b="1" dirty="0">
                <a:solidFill>
                  <a:srgbClr val="0D2155"/>
                </a:solidFill>
                <a:latin typeface="Arial Nova Light"/>
              </a:rPr>
              <a:t>Ambiguity gets squeezed out before it reaches the code.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 dirty="0">
                <a:solidFill>
                  <a:srgbClr val="4A5563"/>
                </a:solidFill>
                <a:latin typeface="Arial Nova Light"/>
              </a:rPr>
              <a:t>Every artifact is a markdown file in your repo </a:t>
            </a:r>
            <a:r>
              <a:rPr lang="en-GB" sz="1300" b="0" dirty="0">
                <a:solidFill>
                  <a:srgbClr val="4A5563"/>
                </a:solidFill>
                <a:latin typeface="Arial Nova Light"/>
              </a:rPr>
              <a:t>-</a:t>
            </a:r>
            <a:r>
              <a:rPr sz="1300" b="0" dirty="0">
                <a:solidFill>
                  <a:srgbClr val="4A5563"/>
                </a:solidFill>
                <a:latin typeface="Arial Nova Light"/>
              </a:rPr>
              <a:t> reviewed, versioned, and read by the AI at the next step.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actually get out of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" y="2057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rgbClr val="0D2155"/>
                </a:solidFill>
                <a:latin typeface="Arial Nov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 Nova Light"/>
              </a:rPr>
              <a:t>Intent,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11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The “why” lives in the repo,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not in a chat history.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3736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rgbClr val="00468B"/>
                </a:solidFill>
                <a:latin typeface="Arial Nov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971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 Nova Light"/>
              </a:rPr>
              <a:t>Decisions, traceable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611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Every line of code points back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to a requirement.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73736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58200" y="205740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200" b="1">
                <a:solidFill>
                  <a:srgbClr val="0B7C84"/>
                </a:solidFill>
                <a:latin typeface="Arial Nov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718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Arial Nova Light"/>
              </a:rPr>
              <a:t>Verification, built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61188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Acceptance criteria exist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before the code does.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First, a 60-second primer: what's a DAP blueprint?</a:t>
            </a:r>
          </a:p>
        </p:txBody>
      </p:sp>
      <p:sp>
        <p:nvSpPr>
          <p:cNvPr id="3" name="Folded Corner 2"/>
          <p:cNvSpPr/>
          <p:nvPr/>
        </p:nvSpPr>
        <p:spPr>
          <a:xfrm>
            <a:off x="731520" y="2103120"/>
            <a:ext cx="2103120" cy="2651760"/>
          </a:xfrm>
          <a:prstGeom prst="foldedCorner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500" b="1">
                <a:solidFill>
                  <a:srgbClr val="0D2155"/>
                </a:solidFill>
                <a:latin typeface="Consolas"/>
              </a:rPr>
              <a:t>blueprint</a:t>
            </a:r>
          </a:p>
          <a:p>
            <a:pPr algn="ctr"/>
            <a:r>
              <a:rPr sz="1500" b="1">
                <a:solidFill>
                  <a:srgbClr val="0D2155"/>
                </a:solidFill>
                <a:latin typeface="Consolas"/>
              </a:rPr>
              <a:t>.yaml</a:t>
            </a:r>
          </a:p>
          <a:p>
            <a:pPr algn="ctr">
              <a:defRPr sz="800" b="0">
                <a:solidFill>
                  <a:srgbClr val="FFFFFF"/>
                </a:solidFill>
                <a:latin typeface="Arial Nova"/>
              </a:defRPr>
            </a:pPr>
            <a:endParaRPr sz="1500" b="1">
              <a:solidFill>
                <a:srgbClr val="0D2155"/>
              </a:solidFill>
              <a:latin typeface="Consolas"/>
            </a:endParaRP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inputs</a:t>
            </a: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node types</a:t>
            </a: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relationships</a:t>
            </a:r>
          </a:p>
          <a:p>
            <a:pPr algn="ctr"/>
            <a:r>
              <a:rPr sz="1100" b="0">
                <a:solidFill>
                  <a:srgbClr val="00468B"/>
                </a:solidFill>
                <a:latin typeface="Consolas"/>
              </a:rPr>
              <a:t>workflows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08960" y="3200400"/>
            <a:ext cx="502920" cy="64008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931920" y="2286000"/>
            <a:ext cx="3108960" cy="228600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274320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 Nova Light"/>
              </a:rPr>
              <a:t>DAP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 Nova Light"/>
              </a:rPr>
              <a:t>Orchestrator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200" b="0">
                <a:solidFill>
                  <a:srgbClr val="C9D7E8"/>
                </a:solidFill>
                <a:latin typeface="Arial Nova Light"/>
              </a:rPr>
              <a:t>makes reality match the YAML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5200" y="3200400"/>
            <a:ext cx="502920" cy="64008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38160" y="1508760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6760" y="1627631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Bare metal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PowerEdge, iDRAC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587752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66760" y="2706624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Virtual machines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vCenter, KVM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666744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3785615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Kubernetes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clusters &amp;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745736"/>
            <a:ext cx="347472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4864607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Storage &amp; network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Arial Nova Light"/>
              </a:rPr>
              <a:t>PowerStore, VLANs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32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4A5563"/>
                </a:solidFill>
                <a:latin typeface="Arial Nova Light"/>
              </a:rPr>
              <a:t>Declarative: you describe the end state </a:t>
            </a:r>
            <a:r>
              <a:rPr lang="en-GB" sz="1500" b="0" dirty="0">
                <a:solidFill>
                  <a:srgbClr val="4A5563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4A5563"/>
                </a:solidFill>
                <a:latin typeface="Arial Nova Light"/>
              </a:rPr>
              <a:t> the platform does the work, in the right order, with rollback.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You already think this way </a:t>
            </a:r>
            <a:r>
              <a:rPr lang="en-GB" dirty="0"/>
              <a:t>-</a:t>
            </a:r>
            <a:r>
              <a:rPr dirty="0"/>
              <a:t> a blueprint is a spec for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651760" cy="118872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7627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A blueprint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566160" y="2194560"/>
            <a:ext cx="45720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56432" y="17830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 Nova Light"/>
              </a:rPr>
              <a:t>describes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108960" cy="118872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21762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Arial Nova Light"/>
              </a:rPr>
              <a:t>your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1031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…and the DAP Orchestrator builds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2651760" cy="118872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27939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A spec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66160" y="4297680"/>
            <a:ext cx="45720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6432" y="388620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4A5563"/>
                </a:solidFill>
                <a:latin typeface="Arial Nova Light"/>
              </a:rPr>
              <a:t>describes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931920"/>
            <a:ext cx="3108960" cy="118872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427939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Arial Nova Light"/>
              </a:rPr>
              <a:t>your blueprint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20624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…and the AI agent builds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900" b="1" dirty="0">
                <a:solidFill>
                  <a:srgbClr val="0D2155"/>
                </a:solidFill>
                <a:latin typeface="Arial Nova Light"/>
              </a:rPr>
              <a:t>Spec-driven development is the blueprint idea, applied one level 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Spec Kit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760720" cy="420624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74519"/>
            <a:ext cx="5257800" cy="3124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 dirty="0">
                <a:solidFill>
                  <a:srgbClr val="FFFFFF"/>
                </a:solidFill>
                <a:latin typeface="Arial Nova Light"/>
              </a:rPr>
              <a:t>What it is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Open source, from GitHub</a:t>
            </a:r>
            <a:br>
              <a:rPr lang="en-GB" sz="1600" dirty="0">
                <a:solidFill>
                  <a:srgbClr val="FFFFFF"/>
                </a:solidFill>
                <a:latin typeface="Arial Nova Light"/>
              </a:rPr>
            </a:br>
            <a:endParaRPr sz="1600" b="0" dirty="0">
              <a:solidFill>
                <a:srgbClr val="FFFFFF"/>
              </a:solidFill>
              <a:latin typeface="Arial Nova Ligh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Lives inside your AI agent as /speckit.* slash commands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endParaRPr sz="1600" b="0" dirty="0">
              <a:solidFill>
                <a:srgbClr val="FFFFFF"/>
              </a:solidFill>
              <a:latin typeface="Arial Nova Light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Just markdown templates and scripts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 nothing to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deploy, nothing to license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endParaRPr sz="1600" b="0" dirty="0">
              <a:solidFill>
                <a:srgbClr val="FFFFFF"/>
              </a:solidFill>
              <a:latin typeface="Arial Nova Light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Your specs live in the repo, versioned with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6916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Works with the agent you already use: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28600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Claude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228600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GitHub Copilot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0632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Gemini CLI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20" y="30632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Cursor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38404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Qwen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384048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 Nova"/>
              </a:rPr>
              <a:t>+ more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754880"/>
            <a:ext cx="4937760" cy="13716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839712" y="4901184"/>
            <a:ext cx="118872" cy="118872"/>
          </a:xfrm>
          <a:prstGeom prst="ellipse">
            <a:avLst/>
          </a:prstGeom>
          <a:solidFill>
            <a:srgbClr val="E8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059168" y="4901184"/>
            <a:ext cx="118872" cy="118872"/>
          </a:xfrm>
          <a:prstGeom prst="ellipse">
            <a:avLst/>
          </a:prstGeom>
          <a:solidFill>
            <a:srgbClr val="E8C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278623" y="4901184"/>
            <a:ext cx="118872" cy="118872"/>
          </a:xfrm>
          <a:prstGeom prst="ellipse">
            <a:avLst/>
          </a:prstGeom>
          <a:solidFill>
            <a:srgbClr val="6FC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4846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C9D7E8"/>
                </a:solidFill>
                <a:latin typeface="Consolas"/>
              </a:rPr>
              <a:t>one-time 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5230368"/>
            <a:ext cx="43891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Consolas"/>
              </a:rPr>
              <a:t>$ uv tool install specify-cli \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00" b="0">
                <a:solidFill>
                  <a:srgbClr val="F0F0F0"/>
                </a:solidFill>
                <a:latin typeface="Consolas"/>
              </a:rPr>
              <a:t>    --from git+https://github.com/github/spec-kit.git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commands. Each one reads everything the last one produced.</a:t>
            </a:r>
          </a:p>
        </p:txBody>
      </p:sp>
      <p:sp>
        <p:nvSpPr>
          <p:cNvPr id="3" name="anim00_step"/>
          <p:cNvSpPr/>
          <p:nvPr/>
        </p:nvSpPr>
        <p:spPr>
          <a:xfrm>
            <a:off x="384048" y="2286000"/>
            <a:ext cx="2103120" cy="173736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00_cmd"/>
          <p:cNvSpPr txBox="1"/>
          <p:nvPr/>
        </p:nvSpPr>
        <p:spPr>
          <a:xfrm>
            <a:off x="438912" y="26974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/speckit.constitution</a:t>
            </a:r>
          </a:p>
        </p:txBody>
      </p:sp>
      <p:sp>
        <p:nvSpPr>
          <p:cNvPr id="5" name="anim00_sub"/>
          <p:cNvSpPr txBox="1"/>
          <p:nvPr/>
        </p:nvSpPr>
        <p:spPr>
          <a:xfrm>
            <a:off x="438912" y="320040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the rules</a:t>
            </a:r>
          </a:p>
        </p:txBody>
      </p:sp>
      <p:sp>
        <p:nvSpPr>
          <p:cNvPr id="6" name="anim01_arr"/>
          <p:cNvSpPr/>
          <p:nvPr/>
        </p:nvSpPr>
        <p:spPr>
          <a:xfrm>
            <a:off x="2514600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01_step"/>
          <p:cNvSpPr/>
          <p:nvPr/>
        </p:nvSpPr>
        <p:spPr>
          <a:xfrm>
            <a:off x="2715768" y="2286000"/>
            <a:ext cx="2103120" cy="1737360"/>
          </a:xfrm>
          <a:prstGeom prst="roundRect">
            <a:avLst>
              <a:gd name="adj" fmla="val 55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im01_cmd"/>
          <p:cNvSpPr txBox="1"/>
          <p:nvPr/>
        </p:nvSpPr>
        <p:spPr>
          <a:xfrm>
            <a:off x="2770632" y="26974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/speckit.specify</a:t>
            </a:r>
          </a:p>
        </p:txBody>
      </p:sp>
      <p:sp>
        <p:nvSpPr>
          <p:cNvPr id="9" name="anim01_sub"/>
          <p:cNvSpPr txBox="1"/>
          <p:nvPr/>
        </p:nvSpPr>
        <p:spPr>
          <a:xfrm>
            <a:off x="2770632" y="320040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what &amp; why</a:t>
            </a:r>
          </a:p>
        </p:txBody>
      </p:sp>
      <p:sp>
        <p:nvSpPr>
          <p:cNvPr id="10" name="anim02_arr"/>
          <p:cNvSpPr/>
          <p:nvPr/>
        </p:nvSpPr>
        <p:spPr>
          <a:xfrm>
            <a:off x="4846320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02_step"/>
          <p:cNvSpPr/>
          <p:nvPr/>
        </p:nvSpPr>
        <p:spPr>
          <a:xfrm>
            <a:off x="5047488" y="2286000"/>
            <a:ext cx="2103120" cy="1737360"/>
          </a:xfrm>
          <a:prstGeom prst="roundRect">
            <a:avLst>
              <a:gd name="adj" fmla="val 55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02_cmd"/>
          <p:cNvSpPr txBox="1"/>
          <p:nvPr/>
        </p:nvSpPr>
        <p:spPr>
          <a:xfrm>
            <a:off x="5102351" y="26974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/speckit.plan</a:t>
            </a:r>
          </a:p>
        </p:txBody>
      </p:sp>
      <p:sp>
        <p:nvSpPr>
          <p:cNvPr id="13" name="anim02_sub"/>
          <p:cNvSpPr txBox="1"/>
          <p:nvPr/>
        </p:nvSpPr>
        <p:spPr>
          <a:xfrm>
            <a:off x="5102351" y="320040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how</a:t>
            </a:r>
          </a:p>
        </p:txBody>
      </p:sp>
      <p:sp>
        <p:nvSpPr>
          <p:cNvPr id="14" name="anim03_arr"/>
          <p:cNvSpPr/>
          <p:nvPr/>
        </p:nvSpPr>
        <p:spPr>
          <a:xfrm>
            <a:off x="7178040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03_step"/>
          <p:cNvSpPr/>
          <p:nvPr/>
        </p:nvSpPr>
        <p:spPr>
          <a:xfrm>
            <a:off x="7379208" y="2286000"/>
            <a:ext cx="2103120" cy="173736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03_cmd"/>
          <p:cNvSpPr txBox="1"/>
          <p:nvPr/>
        </p:nvSpPr>
        <p:spPr>
          <a:xfrm>
            <a:off x="7434072" y="26974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/speckit.tasks</a:t>
            </a:r>
          </a:p>
        </p:txBody>
      </p:sp>
      <p:sp>
        <p:nvSpPr>
          <p:cNvPr id="17" name="anim03_sub"/>
          <p:cNvSpPr txBox="1"/>
          <p:nvPr/>
        </p:nvSpPr>
        <p:spPr>
          <a:xfrm>
            <a:off x="7434072" y="320040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the steps</a:t>
            </a:r>
          </a:p>
        </p:txBody>
      </p:sp>
      <p:sp>
        <p:nvSpPr>
          <p:cNvPr id="18" name="anim04_arr"/>
          <p:cNvSpPr/>
          <p:nvPr/>
        </p:nvSpPr>
        <p:spPr>
          <a:xfrm>
            <a:off x="9509760" y="2926080"/>
            <a:ext cx="182880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nim04_step"/>
          <p:cNvSpPr/>
          <p:nvPr/>
        </p:nvSpPr>
        <p:spPr>
          <a:xfrm>
            <a:off x="9710928" y="2286000"/>
            <a:ext cx="2103120" cy="1737360"/>
          </a:xfrm>
          <a:prstGeom prst="roundRect">
            <a:avLst>
              <a:gd name="adj" fmla="val 5500"/>
            </a:avLst>
          </a:prstGeom>
          <a:solidFill>
            <a:srgbClr val="0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04_cmd"/>
          <p:cNvSpPr txBox="1"/>
          <p:nvPr/>
        </p:nvSpPr>
        <p:spPr>
          <a:xfrm>
            <a:off x="9765792" y="2697480"/>
            <a:ext cx="19933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/speckit.implement</a:t>
            </a:r>
          </a:p>
        </p:txBody>
      </p:sp>
      <p:sp>
        <p:nvSpPr>
          <p:cNvPr id="21" name="anim04_sub"/>
          <p:cNvSpPr txBox="1"/>
          <p:nvPr/>
        </p:nvSpPr>
        <p:spPr>
          <a:xfrm>
            <a:off x="9765792" y="3200400"/>
            <a:ext cx="1993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C9D7E8"/>
                </a:solidFill>
                <a:latin typeface="Arial Nova Light"/>
              </a:rPr>
              <a:t>build it</a:t>
            </a:r>
          </a:p>
        </p:txBody>
      </p:sp>
      <p:sp>
        <p:nvSpPr>
          <p:cNvPr id="22" name="anim05_footer"/>
          <p:cNvSpPr txBox="1"/>
          <p:nvPr/>
        </p:nvSpPr>
        <p:spPr>
          <a:xfrm>
            <a:off x="640080" y="4663440"/>
            <a:ext cx="10972800" cy="1052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800"/>
              </a:spcAft>
            </a:pPr>
            <a:r>
              <a:rPr sz="1800" b="1" dirty="0">
                <a:solidFill>
                  <a:srgbClr val="0D2155"/>
                </a:solidFill>
                <a:latin typeface="Arial Nova Light"/>
              </a:rPr>
              <a:t>Don't skip steps.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4A5563"/>
                </a:solidFill>
                <a:latin typeface="Arial Nova Light"/>
              </a:rPr>
              <a:t>The constitution narrows the spec. The spec narrows the plan. The plan narrows the code.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4A5563"/>
                </a:solidFill>
                <a:latin typeface="Arial Nova Light"/>
              </a:rPr>
              <a:t>Skip one, and the gap surfaces months later </a:t>
            </a:r>
            <a:r>
              <a:rPr lang="en-GB" sz="1500" b="0" dirty="0">
                <a:solidFill>
                  <a:srgbClr val="4A5563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4A5563"/>
                </a:solidFill>
                <a:latin typeface="Arial Nova Light"/>
              </a:rPr>
              <a:t> in 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constitution: rules that outlive any single blueprint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4663440" cy="429768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/speckit.constitution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3931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 dirty="0">
                <a:solidFill>
                  <a:srgbClr val="FFFFFF"/>
                </a:solidFill>
                <a:latin typeface="Arial Nova Light"/>
              </a:rPr>
              <a:t>Write it once, early.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0" dirty="0">
                <a:solidFill>
                  <a:srgbClr val="FFFFFF"/>
                </a:solidFill>
                <a:latin typeface="Arial Nova Light"/>
              </a:rPr>
              <a:t>The agent re-reads it at every later step, so the spec, plan, and code stay honest.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C9D7E8"/>
                </a:solidFill>
                <a:latin typeface="Arial Nova Light"/>
              </a:rPr>
              <a:t>One constitution across your portfolio means every blueprint behaves like part of one product.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645920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806440" y="197510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75564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Declarative IaC only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no imperative scripts where a plugin exists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697480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806440" y="302666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2807208"/>
            <a:ext cx="5303520" cy="599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 dirty="0">
                <a:solidFill>
                  <a:srgbClr val="FFFFFF"/>
                </a:solidFill>
                <a:latin typeface="Arial Nova Light"/>
              </a:rPr>
              <a:t>Secret hygiene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>
                <a:solidFill>
                  <a:srgbClr val="C9D7E8"/>
                </a:solidFill>
                <a:latin typeface="Arial Nova Light"/>
              </a:rPr>
              <a:t>credential references </a:t>
            </a:r>
            <a:r>
              <a:rPr lang="en-GB" sz="1250" b="0" dirty="0">
                <a:solidFill>
                  <a:srgbClr val="C9D7E8"/>
                </a:solidFill>
                <a:latin typeface="Arial Nova Light"/>
              </a:rPr>
              <a:t>-</a:t>
            </a:r>
            <a:r>
              <a:rPr sz="1250" b="0" dirty="0">
                <a:solidFill>
                  <a:srgbClr val="C9D7E8"/>
                </a:solidFill>
                <a:latin typeface="Arial Nova Light"/>
              </a:rPr>
              <a:t> never hardcoded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749039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06440" y="407822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385876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Idempotency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re-running a blueprint converges, never duplicates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800600"/>
            <a:ext cx="6035040" cy="9144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06440" y="5129784"/>
            <a:ext cx="201168" cy="201168"/>
          </a:xfrm>
          <a:prstGeom prst="ellipse">
            <a:avLst/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49103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 Nova Light"/>
              </a:rPr>
              <a:t>Semantic versioning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versioned releases with a maintained CHANGELOG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spec says WHAT and WHY </a:t>
            </a:r>
            <a:r>
              <a:rPr lang="en-GB" dirty="0"/>
              <a:t>-</a:t>
            </a:r>
            <a:r>
              <a:rPr dirty="0"/>
              <a:t> never HOW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/speckit.specify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57400"/>
            <a:ext cx="5394960" cy="3749039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>
                <a:solidFill>
                  <a:srgbClr val="0B7C84"/>
                </a:solidFill>
                <a:latin typeface="Arial Nova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 Nova Light"/>
              </a:rPr>
              <a:t>IN THE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The outcome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what an operator gets when the blueprint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Acceptance criteria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what “done” means, verifiably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920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Constraints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maintenance windows, change control, compliance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57400"/>
            <a:ext cx="5394960" cy="3749039"/>
          </a:xfrm>
          <a:prstGeom prst="roundRect">
            <a:avLst>
              <a:gd name="adj" fmla="val 5500"/>
            </a:avLst>
          </a:prstGeom>
          <a:solidFill>
            <a:srgbClr val="3F2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83679" y="23317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b="1">
                <a:solidFill>
                  <a:srgbClr val="3F205C"/>
                </a:solidFill>
                <a:latin typeface="Arial Nova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79" y="239572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Arial Nova Light"/>
              </a:rPr>
              <a:t>NOT IN THE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546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Plugin or SDK choices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Ansible vs Terraform belongs in the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Nova Light"/>
              </a:rPr>
              <a:t>YAML structure or file layout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implementation detail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892040"/>
            <a:ext cx="4663440" cy="617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dirty="0">
                <a:solidFill>
                  <a:srgbClr val="FFFFFF"/>
                </a:solidFill>
                <a:latin typeface="Arial Nova Light"/>
              </a:rPr>
              <a:t>API call sequences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>
                <a:solidFill>
                  <a:srgbClr val="C9D7E8"/>
                </a:solidFill>
                <a:latin typeface="Arial Nova Light"/>
              </a:rPr>
              <a:t>the agent works that out </a:t>
            </a:r>
            <a:r>
              <a:rPr lang="en-GB" sz="1250" b="0" dirty="0">
                <a:solidFill>
                  <a:srgbClr val="C9D7E8"/>
                </a:solidFill>
                <a:latin typeface="Arial Nova Light"/>
              </a:rPr>
              <a:t>-</a:t>
            </a:r>
            <a:r>
              <a:rPr sz="1250" b="0" dirty="0">
                <a:solidFill>
                  <a:srgbClr val="C9D7E8"/>
                </a:solidFill>
                <a:latin typeface="Arial Nova Light"/>
              </a:rPr>
              <a:t> against the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0D2155"/>
                </a:solidFill>
                <a:latin typeface="Arial Nova Light"/>
              </a:rPr>
              <a:t>Litmus test: if a sentence answers “how”, it belongs in the plan.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plan is a conversation, not a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/speckit.plan</a:t>
            </a:r>
          </a:p>
        </p:txBody>
      </p:sp>
      <p:sp>
        <p:nvSpPr>
          <p:cNvPr id="4" name="anim00_you"/>
          <p:cNvSpPr/>
          <p:nvPr/>
        </p:nvSpPr>
        <p:spPr>
          <a:xfrm>
            <a:off x="548640" y="2194560"/>
            <a:ext cx="5120640" cy="1828800"/>
          </a:xfrm>
          <a:prstGeom prst="roundRect">
            <a:avLst>
              <a:gd name="adj" fmla="val 18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00_youtxt"/>
          <p:cNvSpPr txBox="1"/>
          <p:nvPr/>
        </p:nvSpPr>
        <p:spPr>
          <a:xfrm>
            <a:off x="868680" y="237744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>
                <a:solidFill>
                  <a:srgbClr val="C9D7E8"/>
                </a:solidFill>
                <a:latin typeface="Arial Nova Light"/>
              </a:rPr>
              <a:t>YOU BRING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Arial Nova Light"/>
              </a:rPr>
              <a:t>“Targets are vCenter and K8s. Reuse our Ansible roles. No internet access at deploy time.”</a:t>
            </a:r>
          </a:p>
        </p:txBody>
      </p:sp>
      <p:sp>
        <p:nvSpPr>
          <p:cNvPr id="6" name="anim01_agent"/>
          <p:cNvSpPr/>
          <p:nvPr/>
        </p:nvSpPr>
        <p:spPr>
          <a:xfrm>
            <a:off x="6492240" y="3108960"/>
            <a:ext cx="5120640" cy="2011680"/>
          </a:xfrm>
          <a:prstGeom prst="roundRect">
            <a:avLst>
              <a:gd name="adj" fmla="val 18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anim01_agenttxt"/>
          <p:cNvSpPr txBox="1"/>
          <p:nvPr/>
        </p:nvSpPr>
        <p:spPr>
          <a:xfrm>
            <a:off x="6812280" y="3291840"/>
            <a:ext cx="4572000" cy="1173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00" b="1" dirty="0">
                <a:solidFill>
                  <a:srgbClr val="C9D7E8"/>
                </a:solidFill>
                <a:latin typeface="Arial Nova Light"/>
              </a:rPr>
              <a:t>THE AGENT DRAFTS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FFFFFF"/>
                </a:solidFill>
                <a:latin typeface="Arial Nova Light"/>
              </a:rPr>
              <a:t>Topology, plugin choices, inputs and outputs, failure handling </a:t>
            </a:r>
            <a:r>
              <a:rPr lang="en-GB" sz="1500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FFFFFF"/>
                </a:solidFill>
                <a:latin typeface="Arial Nova Light"/>
              </a:rPr>
              <a:t> plus the open questions it can't decide for you.</a:t>
            </a:r>
          </a:p>
        </p:txBody>
      </p:sp>
      <p:sp>
        <p:nvSpPr>
          <p:cNvPr id="8" name="anim02_loop"/>
          <p:cNvSpPr/>
          <p:nvPr/>
        </p:nvSpPr>
        <p:spPr>
          <a:xfrm>
            <a:off x="4572000" y="4572000"/>
            <a:ext cx="1554480" cy="1554480"/>
          </a:xfrm>
          <a:prstGeom prst="circular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02_caption"/>
          <p:cNvSpPr txBox="1"/>
          <p:nvPr/>
        </p:nvSpPr>
        <p:spPr>
          <a:xfrm>
            <a:off x="640080" y="5989320"/>
            <a:ext cx="10972800" cy="345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 dirty="0">
                <a:solidFill>
                  <a:srgbClr val="0D2155"/>
                </a:solidFill>
                <a:latin typeface="Arial Nova Light"/>
              </a:rPr>
              <a:t>Review, push back, repeat </a:t>
            </a:r>
            <a:r>
              <a:rPr lang="en-GB" sz="1600" b="1" dirty="0">
                <a:solidFill>
                  <a:srgbClr val="0D2155"/>
                </a:solidFill>
                <a:latin typeface="Arial Nova Light"/>
              </a:rPr>
              <a:t>-</a:t>
            </a:r>
            <a:r>
              <a:rPr sz="1600" b="1" dirty="0">
                <a:solidFill>
                  <a:srgbClr val="0D2155"/>
                </a:solidFill>
                <a:latin typeface="Arial Nova Light"/>
              </a:rPr>
              <a:t> until you'd put your name on the plan.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8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Build in reviewable slices </a:t>
            </a:r>
            <a:r>
              <a:rPr lang="en-GB" dirty="0"/>
              <a:t>-</a:t>
            </a:r>
            <a:r>
              <a:rPr dirty="0"/>
              <a:t> not one big bang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06040" y="14173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/speckit.implement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94960" cy="384048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237744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35915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T01  Provision the VM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05409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 Nova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35808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onsolas"/>
              </a:rPr>
              <a:t>T02  Apply hardening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73075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 Nova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3712464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C9D7E8"/>
                </a:solidFill>
                <a:latin typeface="Consolas"/>
              </a:rPr>
              <a:t>T03  Configure networking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0740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 Nova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43891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C9D7E8"/>
                </a:solidFill>
                <a:latin typeface="Consolas"/>
              </a:rPr>
              <a:t>T04  Install monitoring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0840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 Nova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71600" y="5065776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C9D7E8"/>
                </a:solidFill>
                <a:latin typeface="Consolas"/>
              </a:rPr>
              <a:t>T05  Wire up outputs &amp;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623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0B7C84"/>
                </a:solidFill>
                <a:latin typeface="Consolas"/>
              </a:rPr>
              <a:t>slice 1 shipped → review → slice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103120"/>
            <a:ext cx="5303520" cy="384048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377440"/>
            <a:ext cx="4572000" cy="2573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800" b="1" dirty="0">
                <a:solidFill>
                  <a:srgbClr val="FFFFFF"/>
                </a:solidFill>
                <a:latin typeface="Arial Nova Light"/>
              </a:rPr>
              <a:t>You stay in the loop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Approve or reject every diff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Ship one vertical slice end-to-end before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running the rest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Lint and validate after each slice </a:t>
            </a: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 not at the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lang="en-GB" sz="1600" b="0" dirty="0">
                <a:solidFill>
                  <a:srgbClr val="FFFFFF"/>
                </a:solidFill>
                <a:latin typeface="Arial Nova Light"/>
              </a:rPr>
              <a:t>   </a:t>
            </a:r>
            <a:r>
              <a:rPr sz="1600" b="0" dirty="0">
                <a:solidFill>
                  <a:srgbClr val="FFFFFF"/>
                </a:solidFill>
                <a:latin typeface="Arial Nova Light"/>
              </a:rPr>
              <a:t>very end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•  Pause, redirect, or cherry-pick at any point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 Kit runs the process. Blueprint Assist knows the platform.</a:t>
            </a:r>
          </a:p>
        </p:txBody>
      </p:sp>
      <p:sp>
        <p:nvSpPr>
          <p:cNvPr id="3" name="anim00_sk"/>
          <p:cNvSpPr/>
          <p:nvPr/>
        </p:nvSpPr>
        <p:spPr>
          <a:xfrm>
            <a:off x="548640" y="1645920"/>
            <a:ext cx="5486400" cy="228600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00_sktxt"/>
          <p:cNvSpPr txBox="1"/>
          <p:nvPr/>
        </p:nvSpPr>
        <p:spPr>
          <a:xfrm>
            <a:off x="914400" y="1874519"/>
            <a:ext cx="4846320" cy="1324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dirty="0">
                <a:solidFill>
                  <a:srgbClr val="FFFFFF"/>
                </a:solidFill>
                <a:latin typeface="Arial Nova Light"/>
              </a:rPr>
              <a:t>SPEC KIT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Arial Nova Light"/>
              </a:rPr>
              <a:t>The discipline: constitution → spec → plan → tasks. </a:t>
            </a: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br>
              <a:rPr lang="en-GB" sz="1600" b="0" dirty="0">
                <a:solidFill>
                  <a:srgbClr val="FFFFFF"/>
                </a:solidFill>
                <a:latin typeface="Arial Nova Light"/>
              </a:rPr>
            </a:br>
            <a:r>
              <a:rPr b="0" dirty="0">
                <a:solidFill>
                  <a:srgbClr val="FFFFFF"/>
                </a:solidFill>
                <a:latin typeface="Arial Nova Light"/>
              </a:rPr>
              <a:t>General-purpose </a:t>
            </a:r>
            <a:r>
              <a:rPr lang="en-GB" b="0" dirty="0">
                <a:solidFill>
                  <a:srgbClr val="FFFFFF"/>
                </a:solidFill>
                <a:latin typeface="Arial Nova Light"/>
              </a:rPr>
              <a:t>-</a:t>
            </a:r>
            <a:r>
              <a:rPr b="0" dirty="0">
                <a:solidFill>
                  <a:srgbClr val="FFFFFF"/>
                </a:solidFill>
                <a:latin typeface="Arial Nova Light"/>
              </a:rPr>
              <a:t> it knows nothing about DAP.</a:t>
            </a:r>
            <a:endParaRPr sz="1600" b="0" dirty="0">
              <a:solidFill>
                <a:srgbClr val="FFFFFF"/>
              </a:solidFill>
              <a:latin typeface="Arial Nova Light"/>
            </a:endParaRPr>
          </a:p>
        </p:txBody>
      </p:sp>
      <p:sp>
        <p:nvSpPr>
          <p:cNvPr id="5" name="anim01_bpa"/>
          <p:cNvSpPr/>
          <p:nvPr/>
        </p:nvSpPr>
        <p:spPr>
          <a:xfrm>
            <a:off x="6263640" y="1645920"/>
            <a:ext cx="5394960" cy="228600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01_bpatxt"/>
          <p:cNvSpPr txBox="1"/>
          <p:nvPr/>
        </p:nvSpPr>
        <p:spPr>
          <a:xfrm>
            <a:off x="6629400" y="1874519"/>
            <a:ext cx="4754880" cy="1695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dirty="0">
                <a:solidFill>
                  <a:srgbClr val="FFFFFF"/>
                </a:solidFill>
                <a:latin typeface="Arial Nova Light"/>
              </a:rPr>
              <a:t>BLUEPRINT ASSIST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2400" b="0" dirty="0">
                <a:solidFill>
                  <a:srgbClr val="FFFFFF"/>
                </a:solidFill>
                <a:latin typeface="Arial Nova Light"/>
              </a:rPr>
              <a:t>The domain: skills and plugin docs that ground the agent in what DAP can actually do.</a:t>
            </a:r>
          </a:p>
        </p:txBody>
      </p:sp>
      <p:sp>
        <p:nvSpPr>
          <p:cNvPr id="7" name="anim02_loop"/>
          <p:cNvSpPr/>
          <p:nvPr/>
        </p:nvSpPr>
        <p:spPr>
          <a:xfrm>
            <a:off x="685800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build a slice</a:t>
            </a:r>
          </a:p>
        </p:txBody>
      </p:sp>
      <p:sp>
        <p:nvSpPr>
          <p:cNvPr id="8" name="anim03_larr"/>
          <p:cNvSpPr/>
          <p:nvPr/>
        </p:nvSpPr>
        <p:spPr>
          <a:xfrm>
            <a:off x="3209544" y="4754880"/>
            <a:ext cx="237744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03_loop"/>
          <p:cNvSpPr/>
          <p:nvPr/>
        </p:nvSpPr>
        <p:spPr>
          <a:xfrm>
            <a:off x="3474720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bpa blueprint lint</a:t>
            </a:r>
          </a:p>
        </p:txBody>
      </p:sp>
      <p:sp>
        <p:nvSpPr>
          <p:cNvPr id="10" name="anim04_larr"/>
          <p:cNvSpPr/>
          <p:nvPr/>
        </p:nvSpPr>
        <p:spPr>
          <a:xfrm>
            <a:off x="5998464" y="4754880"/>
            <a:ext cx="237744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04_loop"/>
          <p:cNvSpPr/>
          <p:nvPr/>
        </p:nvSpPr>
        <p:spPr>
          <a:xfrm>
            <a:off x="6263640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bpa blueprint validate</a:t>
            </a:r>
          </a:p>
        </p:txBody>
      </p:sp>
      <p:sp>
        <p:nvSpPr>
          <p:cNvPr id="12" name="anim05_larr"/>
          <p:cNvSpPr/>
          <p:nvPr/>
        </p:nvSpPr>
        <p:spPr>
          <a:xfrm>
            <a:off x="8787384" y="4754880"/>
            <a:ext cx="237744" cy="457200"/>
          </a:xfrm>
          <a:prstGeom prst="rightArrow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05_loop"/>
          <p:cNvSpPr/>
          <p:nvPr/>
        </p:nvSpPr>
        <p:spPr>
          <a:xfrm>
            <a:off x="9052559" y="4663440"/>
            <a:ext cx="2468880" cy="640080"/>
          </a:xfrm>
          <a:prstGeom prst="roundRect">
            <a:avLst>
              <a:gd name="adj" fmla="val 50000"/>
            </a:avLst>
          </a:prstGeom>
          <a:solidFill>
            <a:srgbClr val="0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Arial Nova"/>
              </a:rPr>
              <a:t>bpa monitor</a:t>
            </a:r>
          </a:p>
        </p:txBody>
      </p:sp>
      <p:sp>
        <p:nvSpPr>
          <p:cNvPr id="14" name="anim05_lcap"/>
          <p:cNvSpPr txBox="1"/>
          <p:nvPr/>
        </p:nvSpPr>
        <p:spPr>
          <a:xfrm>
            <a:off x="640080" y="5623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4A5563"/>
                </a:solidFill>
                <a:latin typeface="Arial Nova Light"/>
              </a:rPr>
              <a:t>Every slice passes the platform's own quality gates before the next one starts.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/>
              <a:t>A blueprint without a spec is a one-off.</a:t>
            </a:r>
          </a:p>
          <a:p>
            <a:r>
              <a:rPr sz="4000" dirty="0"/>
              <a:t>With a spec, it's a product your whole team can deploy, evolve, and maintain.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started: three commands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810512"/>
            <a:ext cx="502920" cy="502920"/>
          </a:xfrm>
          <a:prstGeom prst="ellipse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ov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install Spec Kit (one-time)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874519"/>
            <a:ext cx="10241280" cy="6858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00200" y="201168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F0F0F0"/>
                </a:solidFill>
                <a:latin typeface="Consolas"/>
              </a:rPr>
              <a:t>$ uv tool install specify-cli --from git+https://github.com/github/spec-kit.git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136391"/>
            <a:ext cx="502920" cy="502920"/>
          </a:xfrm>
          <a:prstGeom prst="ellipse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ov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scaffold a blueprint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3200400"/>
            <a:ext cx="10241280" cy="6858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33375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F0F0F0"/>
                </a:solidFill>
                <a:latin typeface="Consolas"/>
              </a:rPr>
              <a:t>$ specify init dap-my-blueprint --ai claude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462272"/>
            <a:ext cx="502920" cy="502920"/>
          </a:xfrm>
          <a:prstGeom prst="ellipse">
            <a:avLst/>
          </a:prstGeom>
          <a:solidFill>
            <a:srgbClr val="067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Nov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60520"/>
            <a:ext cx="5486400" cy="329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dirty="0">
                <a:solidFill>
                  <a:srgbClr val="1D2C3B"/>
                </a:solidFill>
                <a:latin typeface="Arial Nova Light"/>
              </a:rPr>
              <a:t>open your agent </a:t>
            </a:r>
            <a:r>
              <a:rPr lang="en-GB" sz="1500" b="0" dirty="0">
                <a:solidFill>
                  <a:srgbClr val="1D2C3B"/>
                </a:solidFill>
                <a:latin typeface="Arial Nova Light"/>
              </a:rPr>
              <a:t>-</a:t>
            </a:r>
            <a:r>
              <a:rPr sz="1500" b="0" dirty="0">
                <a:solidFill>
                  <a:srgbClr val="1D2C3B"/>
                </a:solidFill>
                <a:latin typeface="Arial Nova Light"/>
              </a:rPr>
              <a:t> /speckit.* goes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526279"/>
            <a:ext cx="10241280" cy="685800"/>
          </a:xfrm>
          <a:prstGeom prst="roundRect">
            <a:avLst>
              <a:gd name="adj" fmla="val 5500"/>
            </a:avLst>
          </a:prstGeom>
          <a:solidFill>
            <a:srgbClr val="1D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00200" y="466344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dirty="0">
                <a:solidFill>
                  <a:srgbClr val="F0F0F0"/>
                </a:solidFill>
                <a:latin typeface="Consolas"/>
              </a:rPr>
              <a:t>$ cd dap-my-blueprint &amp;&amp; </a:t>
            </a:r>
            <a:r>
              <a:rPr sz="1400" b="0" dirty="0" err="1">
                <a:solidFill>
                  <a:srgbClr val="F0F0F0"/>
                </a:solidFill>
                <a:latin typeface="Consolas"/>
              </a:rPr>
              <a:t>claude</a:t>
            </a:r>
            <a:endParaRPr sz="1400" b="0" dirty="0">
              <a:solidFill>
                <a:srgbClr val="F0F0F0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500" b="0">
                <a:solidFill>
                  <a:srgbClr val="1D2C3B"/>
                </a:solidFill>
                <a:latin typeface="Arial Nova Light"/>
              </a:rPr>
              <a:t>You'll need: Python 3.11+  ·  uv  ·  Git  ·  an AI coding agent  ·  the Blueprint Assist CLI</a:t>
            </a:r>
          </a:p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300" b="0">
                <a:solidFill>
                  <a:srgbClr val="4A5563"/>
                </a:solidFill>
                <a:latin typeface="Arial Nova Light"/>
              </a:rPr>
              <a:t>--ai selects your agent: claude, copilot, gemini, cursor, and more.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a first blueprint you actually need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566160" cy="3931920"/>
          </a:xfrm>
          <a:prstGeom prst="roundRect">
            <a:avLst>
              <a:gd name="adj" fmla="val 5500"/>
            </a:avLst>
          </a:prstGeom>
          <a:solidFill>
            <a:srgbClr val="0D2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9D7E8"/>
                </a:solidFill>
                <a:latin typeface="Arial Nova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VM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 Nova Light"/>
              </a:rPr>
              <a:t>Deploy a configured VM from a blueprint into your hypervisor.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800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Well-bounded. Easy to validate.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566160" cy="3931920"/>
          </a:xfrm>
          <a:prstGeom prst="roundRect">
            <a:avLst>
              <a:gd name="adj" fmla="val 5500"/>
            </a:avLst>
          </a:prstGeom>
          <a:solidFill>
            <a:srgbClr val="004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9D7E8"/>
                </a:solidFill>
                <a:latin typeface="Arial Nova Ligh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14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Container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 Nova Light"/>
              </a:rPr>
              <a:t>Stand up an app on Kubernetes or Podman with Helm.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800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C9D7E8"/>
                </a:solidFill>
                <a:latin typeface="Arial Nova Light"/>
              </a:rPr>
              <a:t>Exercises the K8s + Helm plugins.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566160" cy="3931920"/>
          </a:xfrm>
          <a:prstGeom prst="roundRect">
            <a:avLst>
              <a:gd name="adj" fmla="val 5500"/>
            </a:avLst>
          </a:prstGeom>
          <a:solidFill>
            <a:srgbClr val="0B7C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1">
                <a:solidFill>
                  <a:srgbClr val="C9D7E8"/>
                </a:solidFill>
                <a:latin typeface="Arial Nova Ligh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146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 Nova Light"/>
              </a:rPr>
              <a:t>Lifecycle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Arial Nova Light"/>
              </a:rPr>
              <a:t>Trigger firmware or BIOS updates from a platform event.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800600"/>
            <a:ext cx="2926080" cy="290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 dirty="0">
                <a:solidFill>
                  <a:srgbClr val="C9D7E8"/>
                </a:solidFill>
                <a:latin typeface="Arial Nova Light"/>
              </a:rPr>
              <a:t>High toil today </a:t>
            </a:r>
            <a:r>
              <a:rPr lang="en-GB" sz="1250" b="0" dirty="0">
                <a:solidFill>
                  <a:srgbClr val="C9D7E8"/>
                </a:solidFill>
                <a:latin typeface="Arial Nova Light"/>
              </a:rPr>
              <a:t>-</a:t>
            </a:r>
            <a:r>
              <a:rPr sz="1250" b="0" dirty="0">
                <a:solidFill>
                  <a:srgbClr val="C9D7E8"/>
                </a:solidFill>
                <a:latin typeface="Arial Nova Light"/>
              </a:rPr>
              <a:t> big payoff.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600" b="1">
                <a:solidFill>
                  <a:srgbClr val="0D2155"/>
                </a:solidFill>
                <a:latin typeface="Arial Nova Light"/>
              </a:rPr>
              <a:t>The best first blueprint is something your team does by hand today.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Dell Tech color update">
  <a:themeElements>
    <a:clrScheme name="Brand Color Evolution">
      <a:dk1>
        <a:srgbClr val="F0F0F0"/>
      </a:dk1>
      <a:lt1>
        <a:srgbClr val="0672CB"/>
      </a:lt1>
      <a:dk2>
        <a:srgbClr val="FFFFFF"/>
      </a:dk2>
      <a:lt2>
        <a:srgbClr val="000000"/>
      </a:lt2>
      <a:accent1>
        <a:srgbClr val="1D2C3B"/>
      </a:accent1>
      <a:accent2>
        <a:srgbClr val="0D2155"/>
      </a:accent2>
      <a:accent3>
        <a:srgbClr val="00468B"/>
      </a:accent3>
      <a:accent4>
        <a:srgbClr val="044E52"/>
      </a:accent4>
      <a:accent5>
        <a:srgbClr val="0B7C84"/>
      </a:accent5>
      <a:accent6>
        <a:srgbClr val="3F205C"/>
      </a:accent6>
      <a:hlink>
        <a:srgbClr val="0672CB"/>
      </a:hlink>
      <a:folHlink>
        <a:srgbClr val="40155C"/>
      </a:folHlink>
    </a:clrScheme>
    <a:fontScheme name="Corporate fonts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1CC3CD47-EF45-432F-9AF9-CFEDCF1F47FF}" vid="{A0E41CA2-901C-421D-9926-B463575B5FE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3681888A0D6F4CAB3F279E1632A492" ma:contentTypeVersion="23" ma:contentTypeDescription="Create a new document." ma:contentTypeScope="" ma:versionID="38faa351c0cca54dc229fc84c720e3ab">
  <xsd:schema xmlns:xsd="http://www.w3.org/2001/XMLSchema" xmlns:xs="http://www.w3.org/2001/XMLSchema" xmlns:p="http://schemas.microsoft.com/office/2006/metadata/properties" xmlns:ns2="c96a20fd-d0fe-4b05-81eb-937327896eab" xmlns:ns3="c9a8f3c6-4134-4ed2-abf1-9ab44cea38c7" targetNamespace="http://schemas.microsoft.com/office/2006/metadata/properties" ma:root="true" ma:fieldsID="9d1a8cc92e345173b13802e0475ad06f" ns2:_="" ns3:_="">
    <xsd:import namespace="c96a20fd-d0fe-4b05-81eb-937327896eab"/>
    <xsd:import namespace="c9a8f3c6-4134-4ed2-abf1-9ab44cea38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iteCategories" minOccurs="0"/>
                <xsd:element ref="ns3:TaxKeywordTaxHTField" minOccurs="0"/>
                <xsd:element ref="ns3:TaxCatchAll" minOccurs="0"/>
                <xsd:element ref="ns3:Contents" minOccurs="0"/>
                <xsd:element ref="ns3:DocumentID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a20fd-d0fe-4b05-81eb-937327896e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9" nillable="true" ma:taxonomy="true" ma:internalName="lcf76f155ced4ddcb4097134ff3c332f" ma:taxonomyFieldName="MediaServiceImageTags" ma:displayName="Image Tags" ma:readOnly="false" ma:fieldId="{5cf76f15-5ced-4ddc-b409-7134ff3c332f}" ma:taxonomyMulti="true" ma:sspId="f4a8f3d3-8814-4760-a664-575ca63320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8f3c6-4134-4ed2-abf1-9ab44cea38c7" elementFormDefault="qualified">
    <xsd:import namespace="http://schemas.microsoft.com/office/2006/documentManagement/types"/>
    <xsd:import namespace="http://schemas.microsoft.com/office/infopath/2007/PartnerControls"/>
    <xsd:element name="SiteCategories" ma:index="17" nillable="true" ma:displayName="SiteCategories" ma:default="" ma:internalName="SiteCatego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Enter Choice #1"/>
                  </xsd:restriction>
                </xsd:simpleType>
              </xsd:element>
            </xsd:sequence>
          </xsd:extension>
        </xsd:complexContent>
      </xsd:complexType>
    </xsd:element>
    <xsd:element name="TaxKeywordTaxHTField" ma:index="19" nillable="true" ma:taxonomy="true" ma:internalName="TaxKeywordTaxHTField" ma:taxonomyFieldName="TaxKeyword" ma:displayName="Enterprise Keywords" ma:fieldId="{23f27201-bee3-471e-b2e7-b64fd8b7ca38}" ma:taxonomyMulti="true" ma:sspId="f4a8f3d3-8814-4760-a664-575ca63320f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20" nillable="true" ma:displayName="Taxonomy Catch All Column" ma:hidden="true" ma:list="{936948ff-7f2c-4484-93b7-cb1e75a429f8}" ma:internalName="TaxCatchAll" ma:showField="CatchAllData" ma:web="c9a8f3c6-4134-4ed2-abf1-9ab44cea38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ontents" ma:index="21" nillable="true" ma:displayName="Contents" ma:internalName="Contents">
      <xsd:simpleType>
        <xsd:restriction base="dms:Note">
          <xsd:maxLength value="255"/>
        </xsd:restriction>
      </xsd:simpleType>
    </xsd:element>
    <xsd:element name="DocumentID" ma:index="22" nillable="true" ma:displayName="DocumentID" ma:internalName="DocumentID">
      <xsd:simpleType>
        <xsd:restriction base="dms:Text">
          <xsd:maxLength value="255"/>
        </xsd:restriction>
      </xsd:simple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tents xmlns="c9a8f3c6-4134-4ed2-abf1-9ab44cea38c7" xsi:nil="true"/>
    <TaxCatchAll xmlns="c9a8f3c6-4134-4ed2-abf1-9ab44cea38c7" xsi:nil="true"/>
    <TaxKeywordTaxHTField xmlns="c9a8f3c6-4134-4ed2-abf1-9ab44cea38c7">
      <Terms xmlns="http://schemas.microsoft.com/office/infopath/2007/PartnerControls"/>
    </TaxKeywordTaxHTField>
    <lcf76f155ced4ddcb4097134ff3c332f xmlns="c96a20fd-d0fe-4b05-81eb-937327896eab">
      <Terms xmlns="http://schemas.microsoft.com/office/infopath/2007/PartnerControls"/>
    </lcf76f155ced4ddcb4097134ff3c332f>
    <SiteCategories xmlns="c9a8f3c6-4134-4ed2-abf1-9ab44cea38c7" xsi:nil="true"/>
    <DocumentID xmlns="c9a8f3c6-4134-4ed2-abf1-9ab44cea38c7" xsi:nil="true"/>
  </documentManagement>
</p:properties>
</file>

<file path=customXml/itemProps1.xml><?xml version="1.0" encoding="utf-8"?>
<ds:datastoreItem xmlns:ds="http://schemas.openxmlformats.org/officeDocument/2006/customXml" ds:itemID="{12888767-1ACA-4527-989F-70C1B76C33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6a20fd-d0fe-4b05-81eb-937327896eab"/>
    <ds:schemaRef ds:uri="c9a8f3c6-4134-4ed2-abf1-9ab44cea38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536F5C-77E1-4EDC-B025-4FDDF0DFB1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8E51012-B727-4B01-9EE6-0C8A68B96B4B}">
  <ds:schemaRefs>
    <ds:schemaRef ds:uri="http://schemas.openxmlformats.org/package/2006/metadata/core-properties"/>
    <ds:schemaRef ds:uri="http://purl.org/dc/dcmitype/"/>
    <ds:schemaRef ds:uri="c96a20fd-d0fe-4b05-81eb-937327896eab"/>
    <ds:schemaRef ds:uri="http://purl.org/dc/terms/"/>
    <ds:schemaRef ds:uri="http://schemas.microsoft.com/office/2006/documentManagement/types"/>
    <ds:schemaRef ds:uri="c9a8f3c6-4134-4ed2-abf1-9ab44cea38c7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Dell Technologies Template 2026</Template>
  <TotalTime>17</TotalTime>
  <Words>1190</Words>
  <Application>Microsoft Office PowerPoint</Application>
  <PresentationFormat>Widescreen</PresentationFormat>
  <Paragraphs>199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 </vt:lpstr>
      <vt:lpstr>Aptos</vt:lpstr>
      <vt:lpstr>Arial</vt:lpstr>
      <vt:lpstr>Arial Nova</vt:lpstr>
      <vt:lpstr>Arial Nova Light</vt:lpstr>
      <vt:lpstr>Consolas</vt:lpstr>
      <vt:lpstr>Wingdings</vt:lpstr>
      <vt:lpstr>Dell Tech color update</vt:lpstr>
      <vt:lpstr>From Idea to Running Infrastructure</vt:lpstr>
      <vt:lpstr>AI can write your automation in minutes. Keeping it correct, consistent, and maintainable - that's the hard part.</vt:lpstr>
      <vt:lpstr>Prompt-driven automation loses the plot</vt:lpstr>
      <vt:lpstr>Write down what you want before the AI builds it. Keep that document alive. That's spec-driven development.</vt:lpstr>
      <vt:lpstr>Five artifacts. Each one narrows the next.</vt:lpstr>
      <vt:lpstr>What you actually get out of it</vt:lpstr>
      <vt:lpstr>First, a 60-second primer: what's a DAP blueprint?</vt:lpstr>
      <vt:lpstr>You already think this way - a blueprint is a spec for infrastructure</vt:lpstr>
      <vt:lpstr>Meet Spec Kit</vt:lpstr>
      <vt:lpstr>Five commands. Each one reads everything the last one produced.</vt:lpstr>
      <vt:lpstr>The constitution: rules that outlive any single blueprint</vt:lpstr>
      <vt:lpstr>The spec says WHAT and WHY - never HOW</vt:lpstr>
      <vt:lpstr>The plan is a conversation, not a command</vt:lpstr>
      <vt:lpstr>Build in reviewable slices - not one big bang</vt:lpstr>
      <vt:lpstr>Spec Kit runs the process. Blueprint Assist knows the platform.</vt:lpstr>
      <vt:lpstr>A blueprint without a spec is a one-off. With a spec, it's a product your whole team can deploy, evolve, and maintain.</vt:lpstr>
      <vt:lpstr>Getting started: three commands</vt:lpstr>
      <vt:lpstr>Pick a first blueprint you actually need</vt:lpstr>
      <vt:lpstr>PowerPoint Presentation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Sonders, Robert</cp:lastModifiedBy>
  <cp:revision>3</cp:revision>
  <dcterms:created xsi:type="dcterms:W3CDTF">2025-06-10T19:07:08Z</dcterms:created>
  <dcterms:modified xsi:type="dcterms:W3CDTF">2026-07-04T00:13:27Z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0x0101008B3681888A0D6F4CAB3F279E1632A492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MSIP_Label_dad3be33-4108-4738-9e07-d8656a181486_Enabled">
    <vt:lpwstr>true</vt:lpwstr>
  </property>
  <property fmtid="{D5CDD505-2E9C-101B-9397-08002B2CF9AE}" pid="6" name="MSIP_Label_dad3be33-4108-4738-9e07-d8656a181486_SetDate">
    <vt:lpwstr>2026-07-04T00:13:23Z</vt:lpwstr>
  </property>
  <property fmtid="{D5CDD505-2E9C-101B-9397-08002B2CF9AE}" pid="7" name="MSIP_Label_dad3be33-4108-4738-9e07-d8656a181486_Method">
    <vt:lpwstr>Privileged</vt:lpwstr>
  </property>
  <property fmtid="{D5CDD505-2E9C-101B-9397-08002B2CF9AE}" pid="8" name="MSIP_Label_dad3be33-4108-4738-9e07-d8656a181486_Name">
    <vt:lpwstr>Public No Visual Label</vt:lpwstr>
  </property>
  <property fmtid="{D5CDD505-2E9C-101B-9397-08002B2CF9AE}" pid="9" name="MSIP_Label_dad3be33-4108-4738-9e07-d8656a181486_SiteId">
    <vt:lpwstr>945c199a-83a2-4e80-9f8c-5a91be5752dd</vt:lpwstr>
  </property>
  <property fmtid="{D5CDD505-2E9C-101B-9397-08002B2CF9AE}" pid="10" name="MSIP_Label_dad3be33-4108-4738-9e07-d8656a181486_ActionId">
    <vt:lpwstr>4f5098b3-66fc-4924-869c-b80fe86058c0</vt:lpwstr>
  </property>
  <property fmtid="{D5CDD505-2E9C-101B-9397-08002B2CF9AE}" pid="11" name="MSIP_Label_dad3be33-4108-4738-9e07-d8656a181486_ContentBits">
    <vt:lpwstr>0</vt:lpwstr>
  </property>
  <property fmtid="{D5CDD505-2E9C-101B-9397-08002B2CF9AE}" pid="12" name="MSIP_Label_dad3be33-4108-4738-9e07-d8656a181486_Tag">
    <vt:lpwstr>10, 0, 1, 1</vt:lpwstr>
  </property>
</Properties>
</file>