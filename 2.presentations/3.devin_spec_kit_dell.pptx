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0C000A-F15E-CDEB-5FF0-3591E52921F2}" name="Daniels, Michelle" initials="DM" userId="S::michelle_daniels@dell.com::068e6cfe-dc47-43fe-8b35-a3a67322fa9c" providerId="AD"/>
  <p188:author id="{1D511275-967C-2AE7-D834-C852EF495766}" name="Daniels, Michelle" initials="MD" userId="S::Michelle_Daniels@Dell.com::068e6cfe-dc47-43fe-8b35-a3a67322fa9c" providerId="AD"/>
  <p188:author id="{ED2983AF-9298-20EC-AEF1-8D41B4975210}" name="Gonzales, Dionne" initials="DG" userId="S::Dionne_Gonzales@Dell.com::4e7974cd-2679-40c4-86d8-b9a4d317dfc5" providerId="AD"/>
  <p188:author id="{374E5DB5-84AC-8B4E-C77D-C73014835CAD}" name="Gonzales, Dionne" initials="GD" userId="S::dionne_gonzales@dell.com::4e7974cd-2679-40c4-86d8-b9a4d317dfc5" providerId="AD"/>
  <p188:author id="{82CCC5B6-CD32-E5B0-E0EF-0830A25402C4}" name="Dawson, John" initials="JD" userId="S::J.Dawson@dell.com::af5fcba0-fba6-4a8d-8b8c-c882628aa348" providerId="AD"/>
  <p188:author id="{F00F52F7-4E7B-29BA-A725-5D62A1133A93}" name="Lorincova, Katarina" initials="" userId="S::Katarina_Lorincova@Dell.com::a658c2af-9125-48b0-ac2b-a8cc15ee2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86D"/>
    <a:srgbClr val="D2D2D2"/>
    <a:srgbClr val="66278F"/>
    <a:srgbClr val="B6B6B6"/>
    <a:srgbClr val="E5E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27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8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ers, Robert" userId="fbb7e790-7c81-43ad-9c38-b18cbf2e2b1d" providerId="ADAL" clId="{7ABE44DF-A0B6-4B62-B7EB-FDE3DD496FE5}"/>
    <pc:docChg chg="mod modSld modMainMaster">
      <pc:chgData name="Sonders, Robert" userId="fbb7e790-7c81-43ad-9c38-b18cbf2e2b1d" providerId="ADAL" clId="{7ABE44DF-A0B6-4B62-B7EB-FDE3DD496FE5}" dt="2026-07-02T14:15:15.507" v="2" actId="6549"/>
      <pc:docMkLst>
        <pc:docMk/>
      </pc:docMkLst>
      <pc:sldChg chg="modSp mod">
        <pc:chgData name="Sonders, Robert" userId="fbb7e790-7c81-43ad-9c38-b18cbf2e2b1d" providerId="ADAL" clId="{7ABE44DF-A0B6-4B62-B7EB-FDE3DD496FE5}" dt="2026-07-02T14:15:15.507" v="2" actId="6549"/>
        <pc:sldMkLst>
          <pc:docMk/>
          <pc:sldMk cId="0" sldId="256"/>
        </pc:sldMkLst>
        <pc:spChg chg="mod">
          <ac:chgData name="Sonders, Robert" userId="fbb7e790-7c81-43ad-9c38-b18cbf2e2b1d" providerId="ADAL" clId="{7ABE44DF-A0B6-4B62-B7EB-FDE3DD496FE5}" dt="2026-07-02T14:15:15.507" v="2" actId="6549"/>
          <ac:spMkLst>
            <pc:docMk/>
            <pc:sldMk cId="0" sldId="256"/>
            <ac:spMk id="2" creationId="{00000000-0000-0000-0000-000000000000}"/>
          </ac:spMkLst>
        </pc:spChg>
      </pc:sldChg>
      <pc:sldMasterChg chg="addSp delSp mod">
        <pc:chgData name="Sonders, Robert" userId="fbb7e790-7c81-43ad-9c38-b18cbf2e2b1d" providerId="ADAL" clId="{7ABE44DF-A0B6-4B62-B7EB-FDE3DD496FE5}" dt="2026-07-02T14:14:58.138" v="0" actId="33475"/>
        <pc:sldMasterMkLst>
          <pc:docMk/>
          <pc:sldMasterMk cId="550481734" sldId="2147483648"/>
        </pc:sldMasterMkLst>
        <pc:spChg chg="add">
          <ac:chgData name="Sonders, Robert" userId="fbb7e790-7c81-43ad-9c38-b18cbf2e2b1d" providerId="ADAL" clId="{7ABE44DF-A0B6-4B62-B7EB-FDE3DD496FE5}" dt="2026-07-02T14:14:58.138" v="0" actId="33475"/>
          <ac:spMkLst>
            <pc:docMk/>
            <pc:sldMasterMk cId="550481734" sldId="2147483648"/>
            <ac:spMk id="3" creationId="{069EAA19-5CFA-C1E5-F5A1-13AEB80F24EE}"/>
          </ac:spMkLst>
        </pc:spChg>
        <pc:spChg chg="del">
          <ac:chgData name="Sonders, Robert" userId="fbb7e790-7c81-43ad-9c38-b18cbf2e2b1d" providerId="ADAL" clId="{7ABE44DF-A0B6-4B62-B7EB-FDE3DD496FE5}" dt="2026-07-02T14:14:58.138" v="0" actId="33475"/>
          <ac:spMkLst>
            <pc:docMk/>
            <pc:sldMasterMk cId="550481734" sldId="2147483648"/>
            <ac:spMk id="11" creationId="{14ECE13D-F954-6793-5D2B-62D7B036F508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DFCB21-1E6F-50A3-E0FB-4E5876AC9F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C7EDF-3DD7-8C3C-CB07-889044169C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1D599-9EB2-46E2-AC39-602382AE3480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4EC8E-89EA-93B5-9F90-507CD528B9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34D8C-926E-0A26-98B4-CA787A077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EEA91-EA4F-4E9B-8E41-4498703D9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75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E8E08-BC0D-4F7B-8FE8-F3B7386FBAA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7301-2725-4FFF-B33E-C13F64EB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7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544EA-090D-4754-BF2B-7E73886E3793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164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Raven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EEE540F-F32F-ACFB-63DF-516E0809365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405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e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A222BE9-A049-CD29-C5E1-0C57482DBC7A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3685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37B9-85E0-9D2D-D4DD-C2F353DC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3"/>
            <a:ext cx="9715500" cy="74789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16C5C2-17B1-0BAB-BE8C-305DB6C0A3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4E0E02-D811-0864-32FB-31649EB50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40025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Midnight/Dell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84917-6517-4801-D799-032C14CD0F6D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43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17256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2988481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55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Midnight/Dell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2093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idnight/Del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17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aven/Dell Blue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956E6A-F5A7-AAD1-EB8C-081A85CB33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rgbClr val="40586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19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41159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3792698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40586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40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Raven/Dell Blue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697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Raven/Del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087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/Fore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49EFE44-2848-7F23-2E65-C2432B66EDA9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88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A8302-7725-CC2D-50F0-19C249DD9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21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7BC2F-04DA-81D3-C357-B1A1B22D6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371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71682E-23C4-24FB-FA91-6363C0063C6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B87288-D95C-3502-9D22-3B1836AC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13ADEF55-295F-70CA-1CFE-66FAB5020A3A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60F0AC9E-B6D9-3325-1E5A-4C3F85654187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37357191-2ABA-F6D5-3676-E3FFE044C1C8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48AD6-BABB-92CA-C41C-2FC7E1E3E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761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Teal/Fore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E6FC7-4917-CF88-A22A-67F16297CC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5375E4-FD7C-1863-274E-160A7140FB9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82069647-EBF5-C050-174A-40E287CA4B1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ADDB5-902B-1244-A68C-82D604A76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7DB779-DAEF-67BD-EFA7-1128DE07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FAF49F2C-132F-D956-0103-F99A393A67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2092A01-B82C-CF43-ABF2-C369482E756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813531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osmos/Fore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986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usk/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FB6DC9E-6879-DB58-7ED2-F90BA9672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0254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400415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493707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010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Dusk/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55043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usk/Plu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9246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2279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28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F1C11A-D2F8-6FB5-BF86-6BAE985D7E1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68282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6FDEC5-669E-1290-C6B1-AAD6D591AF3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11536A-C42E-9259-AF7B-CE2F6E83D4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1657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691E28-6DB6-B317-230D-EA9AF48AD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00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A85B91E-30A3-F97B-BA43-57B6B049DE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AAF5BB-4B68-17DF-1B25-B24D35D400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246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4AA7879-C82E-8948-AD02-9A32AC0A7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67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776682E0-CE1F-AA61-18BC-3F9A7D3B7A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1FA84DA-CD6B-2917-FB96-970809AEE5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32394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01A5972-D45A-AFDC-7AF1-E84E7AF7D0F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83788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87A7032-639A-5411-6118-BBA499122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71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FB5CBE-8FB3-AD47-E13E-A0AD6C26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-50326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02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F1CE4-153A-85AA-B235-515D0ECC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B6F1130-2447-2F8F-D6CA-4D4B8D097E95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3253-4A33-BEC0-24F2-891BAD9AA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1626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Raven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B63F84D-D504-A280-C4DF-3A404C91A3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F1CE4-153A-85AA-B235-515D0ECC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36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De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B2209E-1FAF-A750-E461-F5A96B1385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2515BD-28D6-59CF-B1CD-2360F096E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22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998778-5258-3322-48F3-EA6BBD2A4894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9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D0E95807-F374-4095-7824-1009D90927D6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430652FF-3D95-8823-86D1-56EE9D45B67C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EAA19-5CFA-C1E5-F5A1-13AEB80F24E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5066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Dell Customer Communication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55048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79" r:id="rId29"/>
    <p:sldLayoutId id="2147483774" r:id="rId30"/>
    <p:sldLayoutId id="2147483751" r:id="rId31"/>
    <p:sldLayoutId id="2147483775" r:id="rId32"/>
    <p:sldLayoutId id="2147483776" r:id="rId33"/>
    <p:sldLayoutId id="2147483777" r:id="rId34"/>
    <p:sldLayoutId id="2147483778" r:id="rId35"/>
    <p:sldLayoutId id="2147483780" r:id="rId36"/>
    <p:sldLayoutId id="2147483749" r:id="rId37"/>
    <p:sldLayoutId id="2147483750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 </a:t>
            </a:r>
            <a:r>
              <a:rPr dirty="0"/>
              <a:t>automation that ships, with Devin and Spec Kit.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Spec-Driven Blueprints for the Dell Automation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journey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600">
                <a:solidFill>
                  <a:srgbClr val="556073"/>
                </a:solidFill>
                <a:latin typeface="Arial"/>
              </a:rPr>
              <a:t>Six steps from a blank workspace to a production-ready DAP blueprint.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2121408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2139696"/>
            <a:ext cx="249631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2184" y="2542032"/>
            <a:ext cx="2496312" cy="13533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>
                <a:solidFill>
                  <a:srgbClr val="556073"/>
                </a:solidFill>
                <a:latin typeface="Arial"/>
              </a:rPr>
              <a:t>Devin and Spec Kit on your engineer workstation.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92024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26280" y="2121408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8656" y="2139696"/>
            <a:ext cx="249631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Initialize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8656" y="2542032"/>
            <a:ext cx="2496312" cy="13533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>
                <a:solidFill>
                  <a:srgbClr val="556073"/>
                </a:solidFill>
                <a:latin typeface="Arial"/>
              </a:rPr>
              <a:t>specify init wired for your blueprint repo.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92024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302752" y="2121408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139696"/>
            <a:ext cx="249631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Constitution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2542032"/>
            <a:ext cx="2496312" cy="13533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>
                <a:solidFill>
                  <a:srgbClr val="556073"/>
                </a:solidFill>
                <a:latin typeface="Arial"/>
              </a:rPr>
              <a:t>The rules every blueprint in our portfolio obeys.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24528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425696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4443984"/>
            <a:ext cx="249631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Specify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4846320"/>
            <a:ext cx="2496312" cy="13533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>
                <a:solidFill>
                  <a:srgbClr val="556073"/>
                </a:solidFill>
                <a:latin typeface="Arial"/>
              </a:rPr>
              <a:t>The customer outcome and acceptance criteria.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4224528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26280" y="4425696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4443984"/>
            <a:ext cx="249631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4846320"/>
            <a:ext cx="2496312" cy="13533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>
                <a:solidFill>
                  <a:srgbClr val="556073"/>
                </a:solidFill>
                <a:latin typeface="Arial"/>
              </a:rPr>
              <a:t>DAP services, modules, integrations, error paths.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4" y="4224528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02752" y="4425696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4443984"/>
            <a:ext cx="249631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4846320"/>
            <a:ext cx="2496312" cy="13533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>
                <a:solidFill>
                  <a:srgbClr val="556073"/>
                </a:solidFill>
                <a:latin typeface="Arial"/>
              </a:rPr>
              <a:t>Tasks, implement, validate against the lab fleet.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Meet the tools 1 of 2 </a:t>
            </a:r>
            <a:r>
              <a:rPr lang="en-US" dirty="0"/>
              <a:t>-</a:t>
            </a:r>
            <a:r>
              <a:rPr dirty="0"/>
              <a:t> Devin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GB" sz="1400" dirty="0">
                <a:solidFill>
                  <a:srgbClr val="556073"/>
                </a:solidFill>
                <a:latin typeface="Arial"/>
              </a:rPr>
              <a:t>O</a:t>
            </a:r>
            <a:r>
              <a:rPr sz="1400" dirty="0" err="1">
                <a:solidFill>
                  <a:srgbClr val="556073"/>
                </a:solidFill>
                <a:latin typeface="Arial"/>
              </a:rPr>
              <a:t>ur</a:t>
            </a:r>
            <a:r>
              <a:rPr sz="1400" dirty="0">
                <a:solidFill>
                  <a:srgbClr val="556073"/>
                </a:solidFill>
                <a:latin typeface="Arial"/>
              </a:rPr>
              <a:t> standard TUI at Dell, backed by Claude Opus and Sonnet under the hood.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760720" cy="420624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2084832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" y="2084832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25296" y="2084832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00784" y="2066544"/>
            <a:ext cx="3456432" cy="22775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000" dirty="0" err="1">
                <a:solidFill>
                  <a:srgbClr val="9AA4B2"/>
                </a:solidFill>
                <a:latin typeface="Consolas"/>
              </a:rPr>
              <a:t>devin</a:t>
            </a:r>
            <a:r>
              <a:rPr sz="1000" dirty="0">
                <a:solidFill>
                  <a:srgbClr val="9AA4B2"/>
                </a:solidFill>
                <a:latin typeface="Consolas"/>
              </a:rPr>
              <a:t> </a:t>
            </a:r>
            <a:r>
              <a:rPr lang="en-US" sz="1000" dirty="0">
                <a:solidFill>
                  <a:srgbClr val="9AA4B2"/>
                </a:solidFill>
                <a:latin typeface="Consolas"/>
              </a:rPr>
              <a:t>-</a:t>
            </a:r>
            <a:r>
              <a:rPr sz="1000" dirty="0">
                <a:solidFill>
                  <a:srgbClr val="9AA4B2"/>
                </a:solidFill>
                <a:latin typeface="Consolas"/>
              </a:rPr>
              <a:t> dap-fleet-onboarding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78024"/>
            <a:ext cx="5102352" cy="34564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6BE69C"/>
                </a:solidFill>
                <a:latin typeface="Consolas"/>
              </a:rPr>
              <a:t>$ devin</a:t>
            </a:r>
          </a:p>
          <a:p>
            <a:r>
              <a:rPr sz="1400">
                <a:solidFill>
                  <a:srgbClr val="1A1F2C"/>
                </a:solidFill>
                <a:latin typeface="Consolas"/>
              </a:rPr>
              <a:t>  Welcome back, kenny.</a:t>
            </a:r>
          </a:p>
          <a:p>
            <a:r>
              <a:rPr sz="1400">
                <a:solidFill>
                  <a:srgbClr val="1A1F2C"/>
                </a:solidFill>
                <a:latin typeface="Consolas"/>
              </a:rPr>
              <a:t>  Repo: dell-automation/blueprints-fleet</a:t>
            </a:r>
          </a:p>
          <a:p>
            <a:r>
              <a:rPr sz="1400">
                <a:solidFill>
                  <a:srgbClr val="1A1F2C"/>
                </a:solidFill>
                <a:latin typeface="Consolas"/>
              </a:rPr>
              <a:t>  Model: Claude Sonnet 4 (switch with /model)</a:t>
            </a:r>
          </a:p>
          <a:p>
            <a:r>
              <a:rPr sz="1400">
                <a:solidFill>
                  <a:srgbClr val="1A1F2C"/>
                </a:solidFill>
                <a:latin typeface="Consolas"/>
              </a:rPr>
              <a:t>  Constitution loaded ✓ · Spec loaded ✓</a:t>
            </a:r>
          </a:p>
          <a:p>
            <a:endParaRPr sz="1400">
              <a:solidFill>
                <a:srgbClr val="1A1F2C"/>
              </a:solidFill>
              <a:latin typeface="Consolas"/>
            </a:endParaRPr>
          </a:p>
          <a:p>
            <a:r>
              <a:rPr sz="1400">
                <a:solidFill>
                  <a:srgbClr val="77C2FF"/>
                </a:solidFill>
                <a:latin typeface="Consolas"/>
              </a:rPr>
              <a:t>&gt; /speckit.plan</a:t>
            </a:r>
          </a:p>
          <a:p>
            <a:r>
              <a:rPr sz="1400">
                <a:solidFill>
                  <a:srgbClr val="1A1F2C"/>
                </a:solidFill>
                <a:latin typeface="Consolas"/>
              </a:rPr>
              <a:t>  drafting plan against constitution +</a:t>
            </a:r>
          </a:p>
          <a:p>
            <a:r>
              <a:rPr sz="1400">
                <a:solidFill>
                  <a:srgbClr val="1A1F2C"/>
                </a:solidFill>
                <a:latin typeface="Consolas"/>
              </a:rPr>
              <a:t>  spec.md ... reviewing DAP service catalog ...</a:t>
            </a:r>
          </a:p>
          <a:p>
            <a:r>
              <a:rPr sz="1400">
                <a:solidFill>
                  <a:srgbClr val="6BE69C"/>
                </a:solidFill>
                <a:latin typeface="Consolas"/>
              </a:rPr>
              <a:t>  ✓ plan.md ready  ·  3 open questions for you_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0528" y="1920240"/>
            <a:ext cx="5227321" cy="4206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38543" y="1975104"/>
            <a:ext cx="5120639" cy="24899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 dirty="0">
                <a:solidFill>
                  <a:srgbClr val="00447C"/>
                </a:solidFill>
                <a:latin typeface="Arial"/>
              </a:rPr>
              <a:t>What it does for blueprint work</a:t>
            </a:r>
          </a:p>
          <a:p>
            <a:endParaRPr sz="1400" b="1" dirty="0">
              <a:solidFill>
                <a:srgbClr val="00447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Reads the whole repo for context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modules, tests, prior blueprints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Writes and refactors across files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DAP workflow YAML and Python tasks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Runs commands, tests, git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including our blueprint validation </a:t>
            </a:r>
            <a:r>
              <a:rPr lang="en-GB" sz="1300" dirty="0">
                <a:solidFill>
                  <a:srgbClr val="1A1F2C"/>
                </a:solidFill>
                <a:latin typeface="Arial"/>
              </a:rPr>
              <a:t>skills</a:t>
            </a:r>
            <a:endParaRPr sz="1300" dirty="0">
              <a:solidFill>
                <a:srgbClr val="1A1F2C"/>
              </a:solidFill>
              <a:latin typeface="Arial"/>
            </a:endParaRP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Plain-English conversation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no DSL, no plugin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200" dirty="0">
                <a:solidFill>
                  <a:srgbClr val="556073"/>
                </a:solidFill>
                <a:latin typeface="Arial"/>
              </a:rPr>
              <a:t>On the Dell-approved tooling list</a:t>
            </a:r>
            <a:r>
              <a:rPr lang="en-GB" sz="1200" dirty="0">
                <a:solidFill>
                  <a:srgbClr val="556073"/>
                </a:solidFill>
                <a:latin typeface="Arial"/>
              </a:rPr>
              <a:t> for ISG.</a:t>
            </a:r>
            <a:endParaRPr sz="1200" dirty="0">
              <a:solidFill>
                <a:srgbClr val="55607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Meet the tools 2 of 2 </a:t>
            </a:r>
            <a:r>
              <a:rPr lang="en-US" dirty="0"/>
              <a:t>-</a:t>
            </a:r>
            <a:r>
              <a:rPr dirty="0"/>
              <a:t> Spec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556073"/>
                </a:solidFill>
                <a:latin typeface="Arial"/>
              </a:rPr>
              <a:t>Open-source toolkit from GitHub for spec-driven development.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760720" cy="411480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249424"/>
            <a:ext cx="5010912" cy="4389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6000" b="1">
                <a:solidFill>
                  <a:srgbClr val="0076CE"/>
                </a:solidFill>
                <a:latin typeface="Arial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889504"/>
            <a:ext cx="5010912" cy="87408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Arial"/>
              </a:rPr>
              <a:t>The spec </a:t>
            </a:r>
            <a:r>
              <a:rPr lang="en-US" sz="2600" b="1" dirty="0">
                <a:solidFill>
                  <a:srgbClr val="FFFFFF"/>
                </a:solidFill>
                <a:latin typeface="Arial"/>
              </a:rPr>
              <a:t>-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not the code </a:t>
            </a:r>
            <a:r>
              <a:rPr lang="en-US" sz="2600" b="1" dirty="0">
                <a:solidFill>
                  <a:srgbClr val="FFFFFF"/>
                </a:solidFill>
                <a:latin typeface="Arial"/>
              </a:rPr>
              <a:t>-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is the source of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4992624"/>
            <a:ext cx="5010912" cy="8046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>
                <a:solidFill>
                  <a:srgbClr val="C9D8EC"/>
                </a:solidFill>
                <a:latin typeface="Arial"/>
              </a:rPr>
              <a:t>Constitution and spec live in the repo, versioned alongside the blueprint. The agent serves the spec; the spec serves the customer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2066544"/>
            <a:ext cx="5010912" cy="1905137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 dirty="0">
                <a:solidFill>
                  <a:srgbClr val="00447C"/>
                </a:solidFill>
                <a:latin typeface="Arial"/>
              </a:rPr>
              <a:t>Why we use it</a:t>
            </a:r>
          </a:p>
          <a:p>
            <a:endParaRPr sz="1400" b="1" dirty="0">
              <a:solidFill>
                <a:srgbClr val="00447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Five slash-commands steer Devin through the blueprint lifecycle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Agent-agnostic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drives Devin (default), and also Claude Code, Copilot, Gemini CLI, Cursor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A blueprint that ships without a spec is a blueprint nobody else can extend, audit, hand off</a:t>
            </a:r>
            <a:r>
              <a:rPr lang="en-GB" sz="1300" dirty="0">
                <a:solidFill>
                  <a:srgbClr val="1A1F2C"/>
                </a:solidFill>
                <a:latin typeface="Arial"/>
              </a:rPr>
              <a:t>, or maintain long-term</a:t>
            </a:r>
            <a:endParaRPr sz="1300" dirty="0">
              <a:solidFill>
                <a:srgbClr val="1A1F2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spec-driven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556073"/>
                </a:solidFill>
                <a:latin typeface="Arial"/>
              </a:rPr>
              <a:t>Five commands, each prefixed with /speckit. Each one sharpens the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956816" cy="1828800"/>
          </a:xfrm>
          <a:prstGeom prst="roundRect">
            <a:avLst>
              <a:gd name="adj" fmla="val 8000"/>
            </a:avLst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2843784"/>
            <a:ext cx="1847088" cy="3931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constitution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392424"/>
            <a:ext cx="1847088" cy="3474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200">
                <a:solidFill>
                  <a:srgbClr val="CBDDF2"/>
                </a:solidFill>
                <a:latin typeface="Arial"/>
              </a:rPr>
              <a:t>principles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05456" y="3017520"/>
            <a:ext cx="320040" cy="548640"/>
          </a:xfrm>
          <a:prstGeom prst="rightArrow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25496" y="2377440"/>
            <a:ext cx="1956816" cy="1828800"/>
          </a:xfrm>
          <a:prstGeom prst="roundRect">
            <a:avLst>
              <a:gd name="adj" fmla="val 8000"/>
            </a:avLst>
          </a:prstGeom>
          <a:solidFill>
            <a:srgbClr val="00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0360" y="2843784"/>
            <a:ext cx="1847088" cy="3931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specify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392424"/>
            <a:ext cx="1847088" cy="3474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200">
                <a:solidFill>
                  <a:srgbClr val="CBDDF2"/>
                </a:solidFill>
                <a:latin typeface="Arial"/>
              </a:rPr>
              <a:t>what / why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82312" y="3017520"/>
            <a:ext cx="320040" cy="548640"/>
          </a:xfrm>
          <a:prstGeom prst="rightArrow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02352" y="2377440"/>
            <a:ext cx="1956816" cy="1828800"/>
          </a:xfrm>
          <a:prstGeom prst="roundRect">
            <a:avLst>
              <a:gd name="adj" fmla="val 8000"/>
            </a:avLst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7216" y="2843784"/>
            <a:ext cx="1847088" cy="3931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3392424"/>
            <a:ext cx="1847088" cy="3474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200">
                <a:solidFill>
                  <a:srgbClr val="CBDDF2"/>
                </a:solidFill>
                <a:latin typeface="Arial"/>
              </a:rPr>
              <a:t>how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59168" y="3017520"/>
            <a:ext cx="320040" cy="548640"/>
          </a:xfrm>
          <a:prstGeom prst="rightArrow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79208" y="2377440"/>
            <a:ext cx="1956816" cy="1828800"/>
          </a:xfrm>
          <a:prstGeom prst="roundRect">
            <a:avLst>
              <a:gd name="adj" fmla="val 8000"/>
            </a:avLst>
          </a:prstGeom>
          <a:solidFill>
            <a:srgbClr val="00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34072" y="2843784"/>
            <a:ext cx="1847088" cy="3931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3392424"/>
            <a:ext cx="1847088" cy="3474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200">
                <a:solidFill>
                  <a:srgbClr val="CBDDF2"/>
                </a:solidFill>
                <a:latin typeface="Arial"/>
              </a:rPr>
              <a:t>breakdown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36024" y="3017520"/>
            <a:ext cx="320040" cy="548640"/>
          </a:xfrm>
          <a:prstGeom prst="rightArrow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56064" y="2377440"/>
            <a:ext cx="1956816" cy="1828800"/>
          </a:xfrm>
          <a:prstGeom prst="roundRect">
            <a:avLst>
              <a:gd name="adj" fmla="val 8000"/>
            </a:avLst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10928" y="2843784"/>
            <a:ext cx="1847088" cy="3931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3392424"/>
            <a:ext cx="1847088" cy="3474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200">
                <a:solidFill>
                  <a:srgbClr val="CBDDF2"/>
                </a:solidFill>
                <a:latin typeface="Arial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626864"/>
            <a:ext cx="10954512" cy="110491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 dirty="0">
                <a:solidFill>
                  <a:srgbClr val="00447C"/>
                </a:solidFill>
                <a:latin typeface="Arial"/>
              </a:rPr>
              <a:t>Don't skip steps.</a:t>
            </a:r>
          </a:p>
          <a:p>
            <a:endParaRPr sz="1400" b="1" dirty="0">
              <a:solidFill>
                <a:srgbClr val="00447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The constitution narrows the spec.  The spec narrows the plan.  The plan narrows the code.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556073"/>
                </a:solidFill>
                <a:latin typeface="Arial"/>
              </a:rPr>
              <a:t>Skip a stage and the rework lands on the next blueprint that inherits the gap </a:t>
            </a:r>
            <a:r>
              <a:rPr lang="en-US" sz="1300" dirty="0">
                <a:solidFill>
                  <a:srgbClr val="556073"/>
                </a:solidFill>
                <a:latin typeface="Arial"/>
              </a:rPr>
              <a:t>-</a:t>
            </a:r>
            <a:r>
              <a:rPr sz="1300" dirty="0">
                <a:solidFill>
                  <a:srgbClr val="556073"/>
                </a:solidFill>
                <a:latin typeface="Arial"/>
              </a:rPr>
              <a:t> usually months later, in front of a customer.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879" y="3647347"/>
            <a:ext cx="10268666" cy="2676747"/>
          </a:xfrm>
        </p:spPr>
        <p:txBody>
          <a:bodyPr/>
          <a:lstStyle/>
          <a:p>
            <a:r>
              <a:rPr dirty="0"/>
              <a:t>A blueprint without a spec is a one-off. A blueprint with a spec is a product the rest of the field can deploy</a:t>
            </a:r>
            <a:r>
              <a:rPr lang="en-GB" dirty="0"/>
              <a:t>, evolve, and maintain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1 </a:t>
            </a:r>
            <a:r>
              <a:rPr lang="en-US" dirty="0"/>
              <a:t>-</a:t>
            </a:r>
            <a:r>
              <a:rPr dirty="0"/>
              <a:t> Install Devin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556073"/>
                </a:solidFill>
                <a:latin typeface="Arial"/>
              </a:rPr>
              <a:t>Most of you already have it. If not, this is the five-minute setup.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2121408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2139696"/>
            <a:ext cx="423367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Pull the Devin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2184" y="2542032"/>
            <a:ext cx="4233672" cy="58169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GB" sz="1100" dirty="0">
                <a:solidFill>
                  <a:srgbClr val="556073"/>
                </a:solidFill>
                <a:latin typeface="Arial"/>
              </a:rPr>
              <a:t>From email instructions when you were onboarded</a:t>
            </a:r>
            <a:r>
              <a:rPr sz="1100" dirty="0">
                <a:solidFill>
                  <a:srgbClr val="556073"/>
                </a:solidFill>
                <a:latin typeface="Arial"/>
              </a:rPr>
              <a:t>. Standard </a:t>
            </a:r>
            <a:r>
              <a:rPr lang="en-GB" sz="1100" dirty="0">
                <a:solidFill>
                  <a:srgbClr val="556073"/>
                </a:solidFill>
                <a:latin typeface="Arial"/>
              </a:rPr>
              <a:t>PowerShell based</a:t>
            </a:r>
            <a:r>
              <a:rPr sz="1100" dirty="0">
                <a:solidFill>
                  <a:srgbClr val="556073"/>
                </a:solidFill>
                <a:latin typeface="Arial"/>
              </a:rPr>
              <a:t>. Works on the standard Dell engineering image</a:t>
            </a:r>
            <a:r>
              <a:rPr lang="en-GB" sz="1100" dirty="0">
                <a:solidFill>
                  <a:srgbClr val="556073"/>
                </a:solidFill>
                <a:latin typeface="Arial"/>
              </a:rPr>
              <a:t>, works in Linux, WSL, or Windows based systems</a:t>
            </a:r>
            <a:r>
              <a:rPr sz="1100" dirty="0">
                <a:solidFill>
                  <a:srgbClr val="556073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373368" y="2121408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5744" y="2139696"/>
            <a:ext cx="423367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Sign in with Dell 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2542032"/>
            <a:ext cx="4233672" cy="41242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 dirty="0">
                <a:solidFill>
                  <a:srgbClr val="556073"/>
                </a:solidFill>
                <a:latin typeface="Arial"/>
              </a:rPr>
              <a:t>Your Devin workspace is already provisioned against your AD identity </a:t>
            </a:r>
            <a:r>
              <a:rPr lang="en-US" sz="1100" dirty="0">
                <a:solidFill>
                  <a:srgbClr val="556073"/>
                </a:solidFill>
                <a:latin typeface="Arial"/>
              </a:rPr>
              <a:t>-</a:t>
            </a:r>
            <a:r>
              <a:rPr sz="1100" dirty="0">
                <a:solidFill>
                  <a:srgbClr val="556073"/>
                </a:solidFill>
                <a:latin typeface="Arial"/>
              </a:rPr>
              <a:t> no separate account to create.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4133088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4151376"/>
            <a:ext cx="423367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Pick your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4553712"/>
            <a:ext cx="4233672" cy="58169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 dirty="0">
                <a:solidFill>
                  <a:srgbClr val="556073"/>
                </a:solidFill>
                <a:latin typeface="Arial"/>
              </a:rPr>
              <a:t>Settings → Model. Default to Claude Sonnet 4 for blueprint work; switch to Opus 4 for the constitution and plan steps.</a:t>
            </a:r>
            <a:r>
              <a:rPr lang="en-GB" sz="1100" dirty="0">
                <a:solidFill>
                  <a:srgbClr val="556073"/>
                </a:solidFill>
                <a:latin typeface="Arial"/>
              </a:rPr>
              <a:t> Use SWE-1.6 when out of credits or for very simple or well defined tasks.</a:t>
            </a:r>
            <a:endParaRPr sz="1100" dirty="0">
              <a:solidFill>
                <a:srgbClr val="556073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73368" y="4133088"/>
            <a:ext cx="502920" cy="50292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4151376"/>
            <a:ext cx="423367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00447C"/>
                </a:solidFill>
                <a:latin typeface="Arial"/>
              </a:rPr>
              <a:t>Authorize the GitHub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553712"/>
            <a:ext cx="4233672" cy="10332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>
                <a:solidFill>
                  <a:srgbClr val="556073"/>
                </a:solidFill>
                <a:latin typeface="Arial"/>
              </a:rPr>
              <a:t>Gives Devin scoped read/write on dell-automation/blueprints-* repos.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150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9808" y="5879592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87552" y="5879592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25296" y="5879592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00784" y="5861304"/>
            <a:ext cx="8759952" cy="1645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000">
                <a:solidFill>
                  <a:srgbClr val="9AA4B2"/>
                </a:solidFill>
                <a:latin typeface="Consolas"/>
              </a:rPr>
              <a:t>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6272784"/>
            <a:ext cx="10405872" cy="1188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6BE69C"/>
                </a:solidFill>
                <a:latin typeface="Consolas"/>
              </a:rPr>
              <a:t>$ cd ~/blueprints/dap-fleet-onboarding  &amp;&amp;  devin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2 </a:t>
            </a:r>
            <a:r>
              <a:rPr lang="en-US" dirty="0"/>
              <a:t>-</a:t>
            </a:r>
            <a:r>
              <a:rPr dirty="0"/>
              <a:t> Install Spec Kit and initialize a blueprint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556073"/>
                </a:solidFill>
                <a:latin typeface="Arial"/>
              </a:rPr>
              <a:t>Three commands. From here on, every /speckit.* command lives inside Devin.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883664"/>
            <a:ext cx="10954512" cy="27392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 b="1" dirty="0">
                <a:solidFill>
                  <a:srgbClr val="00447C"/>
                </a:solidFill>
                <a:latin typeface="Arial"/>
              </a:rPr>
              <a:t>1.  Install the specify CLI (one-time, via </a:t>
            </a:r>
            <a:r>
              <a:rPr sz="1300" b="1" dirty="0" err="1">
                <a:solidFill>
                  <a:srgbClr val="00447C"/>
                </a:solidFill>
                <a:latin typeface="Arial"/>
              </a:rPr>
              <a:t>uv</a:t>
            </a:r>
            <a:r>
              <a:rPr sz="1300" b="1" dirty="0">
                <a:solidFill>
                  <a:srgbClr val="00447C"/>
                </a:solidFill>
                <a:latin typeface="Arial"/>
              </a:rPr>
              <a:t>) </a:t>
            </a:r>
            <a:r>
              <a:rPr lang="en-US" sz="1300" b="1" dirty="0">
                <a:solidFill>
                  <a:srgbClr val="00447C"/>
                </a:solidFill>
                <a:latin typeface="Arial"/>
              </a:rPr>
              <a:t>-</a:t>
            </a:r>
            <a:r>
              <a:rPr sz="1300" b="1" dirty="0">
                <a:solidFill>
                  <a:srgbClr val="00447C"/>
                </a:solidFill>
                <a:latin typeface="Arial"/>
              </a:rPr>
              <a:t> pulled from GitHub, not </a:t>
            </a:r>
            <a:r>
              <a:rPr sz="1300" b="1" dirty="0" err="1">
                <a:solidFill>
                  <a:srgbClr val="00447C"/>
                </a:solidFill>
                <a:latin typeface="Arial"/>
              </a:rPr>
              <a:t>PyPI</a:t>
            </a:r>
            <a:endParaRPr sz="1300" b="1" dirty="0">
              <a:solidFill>
                <a:srgbClr val="00447C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404872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2404872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25296" y="2404872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00784" y="2386584"/>
            <a:ext cx="8759952" cy="1645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000">
                <a:solidFill>
                  <a:srgbClr val="9AA4B2"/>
                </a:solidFill>
                <a:latin typeface="Consolas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98064"/>
            <a:ext cx="10405872" cy="274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6BE69C"/>
                </a:solidFill>
                <a:latin typeface="Consolas"/>
              </a:rPr>
              <a:t>$ uv tool install specify-cli --from git+https://github.com/github/spec-kit.git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2095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 b="1">
                <a:solidFill>
                  <a:srgbClr val="00447C"/>
                </a:solidFill>
                <a:latin typeface="Arial"/>
              </a:rPr>
              <a:t>2.  Scaffold a new blueprint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730752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7552" y="3730752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25296" y="3730752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00784" y="3712464"/>
            <a:ext cx="8759952" cy="1645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000">
                <a:solidFill>
                  <a:srgbClr val="9AA4B2"/>
                </a:solidFill>
                <a:latin typeface="Consolas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23944"/>
            <a:ext cx="10405872" cy="274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6BE69C"/>
                </a:solidFill>
                <a:latin typeface="Consolas"/>
              </a:rPr>
              <a:t>$ specify init dap-&lt;blueprint-name&gt; --ai 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4425696"/>
            <a:ext cx="10954512" cy="243143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 dirty="0">
                <a:solidFill>
                  <a:srgbClr val="556073"/>
                </a:solidFill>
                <a:latin typeface="Arial"/>
              </a:rPr>
              <a:t>  --ai </a:t>
            </a:r>
            <a:r>
              <a:rPr sz="1100" dirty="0" err="1">
                <a:solidFill>
                  <a:srgbClr val="556073"/>
                </a:solidFill>
                <a:latin typeface="Arial"/>
              </a:rPr>
              <a:t>claude</a:t>
            </a:r>
            <a:r>
              <a:rPr sz="1100" dirty="0">
                <a:solidFill>
                  <a:srgbClr val="556073"/>
                </a:solidFill>
                <a:latin typeface="Arial"/>
              </a:rPr>
              <a:t> is correct: it generates Claude-compatible prompts that Devin runs natively, </a:t>
            </a:r>
            <a:r>
              <a:rPr lang="en-GB" sz="1100" dirty="0">
                <a:solidFill>
                  <a:srgbClr val="556073"/>
                </a:solidFill>
                <a:latin typeface="Arial"/>
              </a:rPr>
              <a:t>but you may need to rename the generated .Claude folder to .Devin</a:t>
            </a:r>
            <a:endParaRPr sz="1100" dirty="0">
              <a:solidFill>
                <a:srgbClr val="556073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3504" y="4901184"/>
            <a:ext cx="10954512" cy="27392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 b="1" dirty="0">
                <a:solidFill>
                  <a:srgbClr val="00447C"/>
                </a:solidFill>
                <a:latin typeface="Arial"/>
              </a:rPr>
              <a:t>3.  Open it in the Devin TUI </a:t>
            </a:r>
            <a:r>
              <a:rPr lang="en-US" sz="1300" b="1" dirty="0">
                <a:solidFill>
                  <a:srgbClr val="00447C"/>
                </a:solidFill>
                <a:latin typeface="Arial"/>
              </a:rPr>
              <a:t>-</a:t>
            </a:r>
            <a:r>
              <a:rPr sz="1300" b="1" dirty="0">
                <a:solidFill>
                  <a:srgbClr val="00447C"/>
                </a:solidFill>
                <a:latin typeface="Arial"/>
              </a:rPr>
              <a:t> slash commands go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9808" y="5422392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87552" y="5422392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25296" y="5422392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00784" y="5404104"/>
            <a:ext cx="8759952" cy="1645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ctr"/>
            <a:r>
              <a:rPr sz="1000">
                <a:solidFill>
                  <a:srgbClr val="9AA4B2"/>
                </a:solidFill>
                <a:latin typeface="Consolas"/>
              </a:rPr>
              <a:t>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815584"/>
            <a:ext cx="10405872" cy="274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6BE69C"/>
                </a:solidFill>
                <a:latin typeface="Consolas"/>
              </a:rPr>
              <a:t>$ cd dap-&lt;blueprint-name&gt;  &amp;&amp;  devin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3 </a:t>
            </a:r>
            <a:r>
              <a:rPr lang="en-US" dirty="0"/>
              <a:t>-</a:t>
            </a:r>
            <a:r>
              <a:rPr dirty="0"/>
              <a:t> /</a:t>
            </a:r>
            <a:r>
              <a:rPr dirty="0" err="1"/>
              <a:t>speckit.constitution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4206240" cy="502920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/speckit.constitution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2249424"/>
            <a:ext cx="3639311" cy="11704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The rules every future decision in this blueprint obeys.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3575304"/>
            <a:ext cx="3639311" cy="232063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 b="1" dirty="0">
                <a:solidFill>
                  <a:srgbClr val="CBDDF2"/>
                </a:solidFill>
                <a:latin typeface="Arial"/>
              </a:rPr>
              <a:t>Write it once, early.</a:t>
            </a:r>
          </a:p>
          <a:p>
            <a:endParaRPr sz="1300" b="1" dirty="0">
              <a:solidFill>
                <a:srgbClr val="CBDDF2"/>
              </a:solidFill>
              <a:latin typeface="Arial"/>
            </a:endParaRPr>
          </a:p>
          <a:p>
            <a:r>
              <a:rPr sz="1200" dirty="0">
                <a:solidFill>
                  <a:srgbClr val="CBDDF2"/>
                </a:solidFill>
                <a:latin typeface="Arial"/>
              </a:rPr>
              <a:t>Devin re-reads it at every later step to keep the spec, plan, and code honest.</a:t>
            </a:r>
          </a:p>
          <a:p>
            <a:endParaRPr sz="1200" dirty="0">
              <a:solidFill>
                <a:srgbClr val="CBDDF2"/>
              </a:solidFill>
              <a:latin typeface="Arial"/>
            </a:endParaRPr>
          </a:p>
          <a:p>
            <a:r>
              <a:rPr sz="1200" dirty="0">
                <a:solidFill>
                  <a:srgbClr val="CBDDF2"/>
                </a:solidFill>
                <a:latin typeface="Arial"/>
              </a:rPr>
              <a:t>It also keeps this blueprint consistent with every other blueprint in the portfolio </a:t>
            </a:r>
            <a:r>
              <a:rPr lang="en-US" sz="1200" dirty="0">
                <a:solidFill>
                  <a:srgbClr val="CBDDF2"/>
                </a:solidFill>
                <a:latin typeface="Arial"/>
              </a:rPr>
              <a:t>-</a:t>
            </a:r>
            <a:r>
              <a:rPr sz="1200" dirty="0">
                <a:solidFill>
                  <a:srgbClr val="CBDDF2"/>
                </a:solidFill>
                <a:latin typeface="Arial"/>
              </a:rPr>
              <a:t> so a customer who deploys two of ours sees one product, not two opinions.</a:t>
            </a:r>
            <a:endParaRPr lang="en-GB" sz="1200" dirty="0">
              <a:solidFill>
                <a:srgbClr val="CBDDF2"/>
              </a:solidFill>
              <a:latin typeface="Arial"/>
            </a:endParaRPr>
          </a:p>
          <a:p>
            <a:endParaRPr lang="en-GB" sz="1200" dirty="0">
              <a:solidFill>
                <a:srgbClr val="CBDDF2"/>
              </a:solidFill>
              <a:latin typeface="Arial"/>
            </a:endParaRPr>
          </a:p>
          <a:p>
            <a:r>
              <a:rPr lang="en-GB" sz="1200" dirty="0">
                <a:solidFill>
                  <a:srgbClr val="CBDDF2"/>
                </a:solidFill>
                <a:latin typeface="Arial"/>
              </a:rPr>
              <a:t>TME have a robust Constitution that can be used for all DAP Blueprints</a:t>
            </a:r>
            <a:endParaRPr sz="1200" dirty="0">
              <a:solidFill>
                <a:srgbClr val="CBDDF2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937760" y="1417320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102352" y="1627632"/>
            <a:ext cx="182880" cy="18288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49824" y="1472184"/>
            <a:ext cx="19933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200" b="1">
                <a:solidFill>
                  <a:srgbClr val="00447C"/>
                </a:solidFill>
                <a:latin typeface="Arial"/>
              </a:rPr>
              <a:t>Idempotency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8664" y="1472184"/>
            <a:ext cx="38221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100">
                <a:solidFill>
                  <a:srgbClr val="1A1F2C"/>
                </a:solidFill>
                <a:latin typeface="Arial"/>
              </a:rPr>
              <a:t>Re-running the blueprint converges, never duplicates.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057400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102352" y="2267712"/>
            <a:ext cx="182880" cy="18288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9824" y="2112264"/>
            <a:ext cx="19933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200" b="1">
                <a:solidFill>
                  <a:srgbClr val="00447C"/>
                </a:solidFill>
                <a:latin typeface="Arial"/>
              </a:rPr>
              <a:t>Auditability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8664" y="2112264"/>
            <a:ext cx="38221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100">
                <a:solidFill>
                  <a:srgbClr val="1A1F2C"/>
                </a:solidFill>
                <a:latin typeface="Arial"/>
              </a:rPr>
              <a:t>Every state change emits a structured event.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697480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102352" y="2907792"/>
            <a:ext cx="182880" cy="18288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9824" y="2752344"/>
            <a:ext cx="19933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200" b="1">
                <a:solidFill>
                  <a:srgbClr val="00447C"/>
                </a:solidFill>
                <a:latin typeface="Arial"/>
              </a:rPr>
              <a:t>Rollback &amp;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98664" y="2752344"/>
            <a:ext cx="38221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100">
                <a:solidFill>
                  <a:srgbClr val="1A1F2C"/>
                </a:solidFill>
                <a:latin typeface="Arial"/>
              </a:rPr>
              <a:t>Define the failure mode before the happy path.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3337560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02352" y="3547872"/>
            <a:ext cx="182880" cy="18288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9824" y="3392424"/>
            <a:ext cx="19933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200" b="1">
                <a:solidFill>
                  <a:srgbClr val="00447C"/>
                </a:solidFill>
                <a:latin typeface="Arial"/>
              </a:rPr>
              <a:t>Security &amp;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4" y="3392424"/>
            <a:ext cx="38221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100">
                <a:solidFill>
                  <a:srgbClr val="1A1F2C"/>
                </a:solidFill>
                <a:latin typeface="Arial"/>
              </a:rPr>
              <a:t>Least privilege; secrets via the platform vault.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977640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02352" y="4187952"/>
            <a:ext cx="182880" cy="18288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49824" y="4032504"/>
            <a:ext cx="19933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200" b="1">
                <a:solidFill>
                  <a:srgbClr val="00447C"/>
                </a:solidFill>
                <a:latin typeface="Arial"/>
              </a:rPr>
              <a:t>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4" y="4032504"/>
            <a:ext cx="38221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100">
                <a:solidFill>
                  <a:srgbClr val="1A1F2C"/>
                </a:solidFill>
                <a:latin typeface="Arial"/>
              </a:rPr>
              <a:t>SOC 2 and customer contractual obligations.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4617720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102352" y="4828032"/>
            <a:ext cx="182880" cy="18288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9824" y="4672584"/>
            <a:ext cx="19933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200" b="1">
                <a:solidFill>
                  <a:srgbClr val="00447C"/>
                </a:solidFill>
                <a:latin typeface="Arial"/>
              </a:rPr>
              <a:t>DAP API conventions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4672584"/>
            <a:ext cx="38221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100">
                <a:solidFill>
                  <a:srgbClr val="1A1F2C"/>
                </a:solidFill>
                <a:latin typeface="Arial"/>
              </a:rPr>
              <a:t>Versioned endpoints, retries, structured errors.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5257800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102352" y="5468112"/>
            <a:ext cx="182880" cy="18288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49824" y="5430286"/>
            <a:ext cx="1993392" cy="25853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lang="en-GB" sz="1200" b="1" dirty="0">
                <a:solidFill>
                  <a:srgbClr val="00447C"/>
                </a:solidFill>
                <a:latin typeface="Arial"/>
              </a:rPr>
              <a:t>Tech Stack</a:t>
            </a:r>
            <a:endParaRPr sz="1200" b="1" dirty="0">
              <a:solidFill>
                <a:srgbClr val="00447C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98664" y="5437980"/>
            <a:ext cx="3822192" cy="243143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lang="en-GB" sz="1100" dirty="0">
                <a:solidFill>
                  <a:srgbClr val="1A1F2C"/>
                </a:solidFill>
                <a:latin typeface="Arial"/>
              </a:rPr>
              <a:t>Ensure consistency across engineers and models</a:t>
            </a:r>
            <a:endParaRPr sz="1100" dirty="0">
              <a:solidFill>
                <a:srgbClr val="1A1F2C"/>
              </a:solidFill>
              <a:latin typeface="Arial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937760" y="5897880"/>
            <a:ext cx="6675120" cy="603504"/>
          </a:xfrm>
          <a:prstGeom prst="roundRect">
            <a:avLst>
              <a:gd name="adj" fmla="val 18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102352" y="6108192"/>
            <a:ext cx="182880" cy="182880"/>
          </a:xfrm>
          <a:prstGeom prst="ellipse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49824" y="5952744"/>
            <a:ext cx="1993392" cy="493776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200" b="1">
                <a:solidFill>
                  <a:srgbClr val="00447C"/>
                </a:solidFill>
                <a:latin typeface="Arial"/>
              </a:rPr>
              <a:t>Scope discipline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8664" y="5993421"/>
            <a:ext cx="3822192" cy="412421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1100" dirty="0">
                <a:solidFill>
                  <a:srgbClr val="1A1F2C"/>
                </a:solidFill>
                <a:latin typeface="Arial"/>
              </a:rPr>
              <a:t>Say no to gold-plating </a:t>
            </a:r>
            <a:r>
              <a:rPr lang="en-US" sz="1100" dirty="0">
                <a:solidFill>
                  <a:srgbClr val="1A1F2C"/>
                </a:solidFill>
                <a:latin typeface="Arial"/>
              </a:rPr>
              <a:t>-</a:t>
            </a:r>
            <a:r>
              <a:rPr sz="1100" dirty="0">
                <a:solidFill>
                  <a:srgbClr val="1A1F2C"/>
                </a:solidFill>
                <a:latin typeface="Arial"/>
              </a:rPr>
              <a:t> the </a:t>
            </a:r>
            <a:r>
              <a:rPr lang="en-GB" sz="1100" dirty="0">
                <a:solidFill>
                  <a:srgbClr val="1A1F2C"/>
                </a:solidFill>
                <a:latin typeface="Arial"/>
              </a:rPr>
              <a:t>spec and plan</a:t>
            </a:r>
            <a:r>
              <a:rPr sz="1100" dirty="0">
                <a:solidFill>
                  <a:srgbClr val="1A1F2C"/>
                </a:solidFill>
                <a:latin typeface="Arial"/>
              </a:rPr>
              <a:t> builds on this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4 </a:t>
            </a:r>
            <a:r>
              <a:rPr lang="en-US" dirty="0"/>
              <a:t>-</a:t>
            </a:r>
            <a:r>
              <a:rPr dirty="0"/>
              <a:t> /</a:t>
            </a:r>
            <a:r>
              <a:rPr dirty="0" err="1"/>
              <a:t>speckit.specify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893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dirty="0">
                <a:solidFill>
                  <a:srgbClr val="556073"/>
                </a:solidFill>
                <a:latin typeface="Arial"/>
              </a:rPr>
              <a:t>Describe </a:t>
            </a:r>
            <a:r>
              <a:rPr sz="1400" b="1" dirty="0">
                <a:solidFill>
                  <a:srgbClr val="556073"/>
                </a:solidFill>
                <a:latin typeface="Arial"/>
              </a:rPr>
              <a:t>WHAT</a:t>
            </a:r>
            <a:r>
              <a:rPr sz="1400" dirty="0">
                <a:solidFill>
                  <a:srgbClr val="556073"/>
                </a:solidFill>
                <a:latin typeface="Arial"/>
              </a:rPr>
              <a:t> the blueprint does and </a:t>
            </a:r>
            <a:r>
              <a:rPr sz="1400" b="1" dirty="0">
                <a:solidFill>
                  <a:srgbClr val="556073"/>
                </a:solidFill>
                <a:latin typeface="Arial"/>
              </a:rPr>
              <a:t>WHY</a:t>
            </a:r>
            <a:r>
              <a:rPr sz="1400" dirty="0">
                <a:solidFill>
                  <a:srgbClr val="556073"/>
                </a:solidFill>
                <a:latin typeface="Arial"/>
              </a:rPr>
              <a:t> a customer wants it. Not </a:t>
            </a:r>
            <a:r>
              <a:rPr sz="1400" b="1" dirty="0">
                <a:solidFill>
                  <a:srgbClr val="556073"/>
                </a:solidFill>
                <a:latin typeface="Arial"/>
              </a:rPr>
              <a:t>HOW</a:t>
            </a:r>
            <a:r>
              <a:rPr sz="1400" dirty="0">
                <a:solidFill>
                  <a:srgbClr val="556073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440680" cy="443484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1BA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1B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249424"/>
            <a:ext cx="484632" cy="48463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3624" y="2249424"/>
            <a:ext cx="4005072" cy="48463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2200" b="1">
                <a:solidFill>
                  <a:srgbClr val="1BA36B"/>
                </a:solidFill>
                <a:latin typeface="Arial"/>
              </a:rP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26664"/>
            <a:ext cx="4782312" cy="2874633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 dirty="0">
                <a:solidFill>
                  <a:srgbClr val="1A1F2C"/>
                </a:solidFill>
                <a:latin typeface="Arial"/>
              </a:rPr>
              <a:t>•  The customer outcome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what changes for the operator after the blueprint runs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Trigger conditions and target environments (PowerEdge, </a:t>
            </a:r>
            <a:r>
              <a:rPr lang="en-GB" sz="1300" dirty="0" err="1">
                <a:solidFill>
                  <a:srgbClr val="1A1F2C"/>
                </a:solidFill>
                <a:latin typeface="Arial"/>
              </a:rPr>
              <a:t>PowerStore</a:t>
            </a:r>
            <a:r>
              <a:rPr sz="1300" dirty="0">
                <a:solidFill>
                  <a:srgbClr val="1A1F2C"/>
                </a:solidFill>
                <a:latin typeface="Arial"/>
              </a:rPr>
              <a:t>, </a:t>
            </a:r>
            <a:r>
              <a:rPr lang="en-GB" sz="1300" dirty="0">
                <a:solidFill>
                  <a:srgbClr val="1A1F2C"/>
                </a:solidFill>
                <a:latin typeface="Arial"/>
              </a:rPr>
              <a:t>VMware, K8S, </a:t>
            </a:r>
            <a:r>
              <a:rPr lang="en-GB" sz="1300" dirty="0" err="1">
                <a:solidFill>
                  <a:srgbClr val="1A1F2C"/>
                </a:solidFill>
                <a:latin typeface="Arial"/>
              </a:rPr>
              <a:t>NativeEdge</a:t>
            </a:r>
            <a:r>
              <a:rPr lang="en-GB" sz="1300" dirty="0">
                <a:solidFill>
                  <a:srgbClr val="1A1F2C"/>
                </a:solidFill>
                <a:latin typeface="Arial"/>
              </a:rPr>
              <a:t>… etc</a:t>
            </a:r>
            <a:r>
              <a:rPr sz="1300" dirty="0">
                <a:solidFill>
                  <a:srgbClr val="1A1F2C"/>
                </a:solidFill>
                <a:latin typeface="Arial"/>
              </a:rPr>
              <a:t>)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Acceptance criteria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what 'done' looks like in the validation lab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Edge cases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partial fleets, network partitions, interrupted runs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Constraints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maintenance windows, change-control, customer SLAs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440680" cy="4434840"/>
          </a:xfrm>
          <a:prstGeom prst="roundRect">
            <a:avLst/>
          </a:prstGeom>
          <a:solidFill>
            <a:srgbClr val="F4F6FA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46520" y="2194560"/>
            <a:ext cx="594360" cy="59436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2249424"/>
            <a:ext cx="484632" cy="48463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7184" y="2249424"/>
            <a:ext cx="4005072" cy="484632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r>
              <a:rPr sz="2200" b="1">
                <a:solidFill>
                  <a:srgbClr val="C8102E"/>
                </a:solidFill>
                <a:latin typeface="Arial"/>
              </a:rPr>
              <a:t>DON'T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3026664"/>
            <a:ext cx="4782312" cy="185897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 dirty="0">
                <a:solidFill>
                  <a:srgbClr val="1A1F2C"/>
                </a:solidFill>
                <a:latin typeface="Arial"/>
              </a:rPr>
              <a:t>•  Pick DAP modules, task libraries, or SDK versions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Specify YAML structure, file names, or repo layout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Choose a database, queue, or backing service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Paste in API call sequences or workflow diagrams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200" dirty="0">
                <a:solidFill>
                  <a:srgbClr val="556073"/>
                </a:solidFill>
                <a:latin typeface="Arial"/>
              </a:rPr>
              <a:t>All of that lives in the plan </a:t>
            </a:r>
            <a:r>
              <a:rPr lang="en-US" sz="1200" dirty="0">
                <a:solidFill>
                  <a:srgbClr val="556073"/>
                </a:solidFill>
                <a:latin typeface="Arial"/>
              </a:rPr>
              <a:t>-</a:t>
            </a:r>
            <a:r>
              <a:rPr sz="1200" dirty="0">
                <a:solidFill>
                  <a:srgbClr val="556073"/>
                </a:solidFill>
                <a:latin typeface="Arial"/>
              </a:rPr>
              <a:t> keep it out of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5 </a:t>
            </a:r>
            <a:r>
              <a:rPr lang="en-US" dirty="0"/>
              <a:t>-</a:t>
            </a:r>
            <a:r>
              <a:rPr dirty="0"/>
              <a:t> /</a:t>
            </a:r>
            <a:r>
              <a:rPr dirty="0" err="1"/>
              <a:t>speckit.plan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556073"/>
                </a:solidFill>
                <a:latin typeface="Arial"/>
              </a:rPr>
              <a:t>Now we talk tech. Devin drafts the plan against your spec and constitution; you review and push 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440680" cy="4389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221992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YOU BRING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798064"/>
            <a:ext cx="4782312" cy="1874359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 dirty="0">
                <a:solidFill>
                  <a:srgbClr val="1A1F2C"/>
                </a:solidFill>
                <a:latin typeface="Arial"/>
              </a:rPr>
              <a:t>•  Target DAP services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Orchestrator, Inventory, Compliance, ...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Module preferences and any standard task libraries to reuse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Deployment scope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single tenant, multi-tenant, customer-managed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Non-negotiables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security boundaries, data residency, integration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65960"/>
            <a:ext cx="5440680" cy="4389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46520" y="2221992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DEVIN PRODUCES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798064"/>
            <a:ext cx="4782312" cy="336499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300">
                <a:solidFill>
                  <a:srgbClr val="1A1F2C"/>
                </a:solidFill>
                <a:latin typeface="Arial"/>
              </a:rPr>
              <a:t>•  Workflow architecture and data model</a:t>
            </a:r>
          </a:p>
          <a:p>
            <a:endParaRPr sz="1300">
              <a:solidFill>
                <a:srgbClr val="1A1F2C"/>
              </a:solidFill>
              <a:latin typeface="Arial"/>
            </a:endParaRPr>
          </a:p>
          <a:p>
            <a:r>
              <a:rPr sz="1300">
                <a:solidFill>
                  <a:srgbClr val="1A1F2C"/>
                </a:solidFill>
                <a:latin typeface="Arial"/>
              </a:rPr>
              <a:t>•  Module boundaries and shared task selection</a:t>
            </a:r>
          </a:p>
          <a:p>
            <a:endParaRPr sz="1300">
              <a:solidFill>
                <a:srgbClr val="1A1F2C"/>
              </a:solidFill>
              <a:latin typeface="Arial"/>
            </a:endParaRPr>
          </a:p>
          <a:p>
            <a:r>
              <a:rPr sz="1300">
                <a:solidFill>
                  <a:srgbClr val="1A1F2C"/>
                </a:solidFill>
                <a:latin typeface="Arial"/>
              </a:rPr>
              <a:t>•  API call sequencing, retries, idempotency keys</a:t>
            </a:r>
          </a:p>
          <a:p>
            <a:endParaRPr sz="1300">
              <a:solidFill>
                <a:srgbClr val="1A1F2C"/>
              </a:solidFill>
              <a:latin typeface="Arial"/>
            </a:endParaRPr>
          </a:p>
          <a:p>
            <a:r>
              <a:rPr sz="1300">
                <a:solidFill>
                  <a:srgbClr val="1A1F2C"/>
                </a:solidFill>
                <a:latin typeface="Arial"/>
              </a:rPr>
              <a:t>•  Open questions for you to resolve before tasks</a:t>
            </a:r>
          </a:p>
          <a:p>
            <a:endParaRPr sz="1300">
              <a:solidFill>
                <a:srgbClr val="1A1F2C"/>
              </a:solidFill>
              <a:latin typeface="Arial"/>
            </a:endParaRPr>
          </a:p>
          <a:p>
            <a:r>
              <a:rPr sz="1200">
                <a:solidFill>
                  <a:srgbClr val="556073"/>
                </a:solidFill>
                <a:latin typeface="Arial"/>
              </a:rPr>
              <a:t>Watch for over-engineering. Ask Devin to flag anything optional before you approve.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6 </a:t>
            </a:r>
            <a:r>
              <a:rPr lang="en-US" dirty="0"/>
              <a:t>-</a:t>
            </a:r>
            <a:r>
              <a:rPr dirty="0"/>
              <a:t> Break it down, then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556073"/>
                </a:solidFill>
                <a:latin typeface="Arial"/>
              </a:rPr>
              <a:t>Two commands. The first sequences the work; the second executes it under your review.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221992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/speckit.tasks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798064"/>
            <a:ext cx="4462272" cy="1505027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 dirty="0">
                <a:solidFill>
                  <a:srgbClr val="00447C"/>
                </a:solidFill>
                <a:latin typeface="Arial"/>
              </a:rPr>
              <a:t>Turns the plan into an ordered task list.</a:t>
            </a:r>
          </a:p>
          <a:p>
            <a:endParaRPr sz="1400" b="1" dirty="0">
              <a:solidFill>
                <a:srgbClr val="00447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Grouped by user story / outcome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Ordered by dependency </a:t>
            </a:r>
            <a:r>
              <a:rPr lang="en-US" sz="1300" dirty="0">
                <a:solidFill>
                  <a:srgbClr val="1A1F2C"/>
                </a:solidFill>
                <a:latin typeface="Arial"/>
              </a:rPr>
              <a:t>-</a:t>
            </a:r>
            <a:r>
              <a:rPr sz="1300" dirty="0">
                <a:solidFill>
                  <a:srgbClr val="1A1F2C"/>
                </a:solidFill>
                <a:latin typeface="Arial"/>
              </a:rPr>
              <a:t> ship a vertical slice early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[P] marks tasks safe to run in parallel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3794760"/>
            <a:ext cx="594360" cy="594360"/>
          </a:xfrm>
          <a:prstGeom prst="rightArrow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92240" y="196596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0" y="2221992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00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/speckit.implement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4462272" cy="2074414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 dirty="0">
                <a:solidFill>
                  <a:srgbClr val="00447C"/>
                </a:solidFill>
                <a:latin typeface="Arial"/>
              </a:rPr>
              <a:t>Devin executes the task list against the plan.</a:t>
            </a:r>
          </a:p>
          <a:p>
            <a:endParaRPr sz="1400" b="1" dirty="0">
              <a:solidFill>
                <a:srgbClr val="00447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You approve or reject diffs at every step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Runs the blueprint validation harness against the lab fleet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300" dirty="0">
                <a:solidFill>
                  <a:srgbClr val="1A1F2C"/>
                </a:solidFill>
                <a:latin typeface="Arial"/>
              </a:rPr>
              <a:t>•  Pause, redirect, or cherry-pick at any point</a:t>
            </a:r>
          </a:p>
          <a:p>
            <a:endParaRPr sz="1300" dirty="0">
              <a:solidFill>
                <a:srgbClr val="1A1F2C"/>
              </a:solidFill>
              <a:latin typeface="Arial"/>
            </a:endParaRPr>
          </a:p>
          <a:p>
            <a:r>
              <a:rPr sz="1200" dirty="0">
                <a:solidFill>
                  <a:srgbClr val="556073"/>
                </a:solidFill>
                <a:latin typeface="Arial"/>
              </a:rPr>
              <a:t>Get one outcome end-to-end before running the full list </a:t>
            </a:r>
            <a:r>
              <a:rPr lang="en-US" sz="1200" dirty="0">
                <a:solidFill>
                  <a:srgbClr val="556073"/>
                </a:solidFill>
                <a:latin typeface="Arial"/>
              </a:rPr>
              <a:t>-</a:t>
            </a:r>
            <a:r>
              <a:rPr sz="1200" dirty="0">
                <a:solidFill>
                  <a:srgbClr val="556073"/>
                </a:solidFill>
                <a:latin typeface="Arial"/>
              </a:rPr>
              <a:t> much easier to steer.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Pick a real blueprint to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380744"/>
            <a:ext cx="10954512" cy="25603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>
                <a:solidFill>
                  <a:srgbClr val="556073"/>
                </a:solidFill>
                <a:latin typeface="Arial"/>
              </a:rPr>
              <a:t>Best first blueprint: something a field engineer is doing by hand right now.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61188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11880" cy="640080"/>
          </a:xfrm>
          <a:prstGeom prst="roundRect">
            <a:avLst>
              <a:gd name="adj" fmla="val 12000"/>
            </a:avLst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2112264"/>
            <a:ext cx="304495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CBDDF2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843784"/>
            <a:ext cx="3044952" cy="3200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GB" sz="1600" b="1" dirty="0">
                <a:solidFill>
                  <a:srgbClr val="00447C"/>
                </a:solidFill>
                <a:latin typeface="Arial"/>
              </a:rPr>
              <a:t>VM Deployment</a:t>
            </a:r>
            <a:endParaRPr sz="1600" b="1" dirty="0">
              <a:solidFill>
                <a:srgbClr val="00447C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" y="3666744"/>
            <a:ext cx="3044952" cy="44319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GB" sz="1200" dirty="0">
                <a:solidFill>
                  <a:srgbClr val="1A1F2C"/>
                </a:solidFill>
                <a:latin typeface="Arial"/>
              </a:rPr>
              <a:t>Define and deploy a VM from a blueprint into a hypervisor environment.</a:t>
            </a:r>
            <a:endParaRPr sz="1200" dirty="0">
              <a:solidFill>
                <a:srgbClr val="1A1F2C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" y="5495544"/>
            <a:ext cx="3044952" cy="6675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>
                <a:solidFill>
                  <a:srgbClr val="556073"/>
                </a:solidFill>
                <a:latin typeface="Arial"/>
              </a:rPr>
              <a:t>High value, well-bounded, easy to validate against the lab.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920240"/>
            <a:ext cx="361188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5112" y="1920240"/>
            <a:ext cx="3611880" cy="640080"/>
          </a:xfrm>
          <a:prstGeom prst="roundRect">
            <a:avLst>
              <a:gd name="adj" fmla="val 12000"/>
            </a:avLst>
          </a:prstGeom>
          <a:solidFill>
            <a:srgbClr val="00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2112264"/>
            <a:ext cx="304495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CBDDF2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843784"/>
            <a:ext cx="3044952" cy="32008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GB" sz="1600" b="1" dirty="0">
                <a:solidFill>
                  <a:srgbClr val="00447C"/>
                </a:solidFill>
                <a:latin typeface="Arial"/>
              </a:rPr>
              <a:t>Container Deployment</a:t>
            </a:r>
            <a:endParaRPr sz="1600" b="1" dirty="0">
              <a:solidFill>
                <a:srgbClr val="00447C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08576" y="3666744"/>
            <a:ext cx="3044952" cy="44319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GB" sz="1200" dirty="0">
                <a:solidFill>
                  <a:srgbClr val="1A1F2C"/>
                </a:solidFill>
                <a:latin typeface="Arial"/>
              </a:rPr>
              <a:t>Deploy containers into a </a:t>
            </a:r>
            <a:r>
              <a:rPr lang="en-GB" sz="1200" dirty="0" err="1">
                <a:solidFill>
                  <a:srgbClr val="1A1F2C"/>
                </a:solidFill>
                <a:latin typeface="Arial"/>
              </a:rPr>
              <a:t>PodMan</a:t>
            </a:r>
            <a:r>
              <a:rPr lang="en-GB" sz="1200" dirty="0">
                <a:solidFill>
                  <a:srgbClr val="1A1F2C"/>
                </a:solidFill>
                <a:latin typeface="Arial"/>
              </a:rPr>
              <a:t> or K8S environment.</a:t>
            </a:r>
            <a:endParaRPr sz="1200" dirty="0">
              <a:solidFill>
                <a:srgbClr val="1A1F2C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08576" y="5495544"/>
            <a:ext cx="3044952" cy="243143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lang="en-GB" sz="1100" dirty="0">
                <a:solidFill>
                  <a:srgbClr val="556073"/>
                </a:solidFill>
                <a:latin typeface="Arial"/>
              </a:rPr>
              <a:t>Tests additional functional highly used scenario</a:t>
            </a:r>
            <a:endParaRPr sz="1100" dirty="0">
              <a:solidFill>
                <a:srgbClr val="556073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01584" y="1920240"/>
            <a:ext cx="361188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01584" y="1920240"/>
            <a:ext cx="3611880" cy="640080"/>
          </a:xfrm>
          <a:prstGeom prst="roundRect">
            <a:avLst>
              <a:gd name="adj" fmla="val 12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2112264"/>
            <a:ext cx="3044952" cy="3017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400" b="1">
                <a:solidFill>
                  <a:srgbClr val="CBDDF2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843784"/>
            <a:ext cx="3044952" cy="5303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600" b="1">
                <a:solidFill>
                  <a:srgbClr val="00447C"/>
                </a:solidFill>
                <a:latin typeface="Arial"/>
              </a:rPr>
              <a:t>Lifecycle event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666744"/>
            <a:ext cx="3044952" cy="44319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200" dirty="0">
                <a:solidFill>
                  <a:srgbClr val="1A1F2C"/>
                </a:solidFill>
                <a:latin typeface="Arial"/>
              </a:rPr>
              <a:t>Trigger firmware, BIOS, or driver updates from </a:t>
            </a:r>
            <a:r>
              <a:rPr lang="en-GB" sz="1200" dirty="0">
                <a:solidFill>
                  <a:srgbClr val="1A1F2C"/>
                </a:solidFill>
                <a:latin typeface="Arial"/>
              </a:rPr>
              <a:t>an event in the </a:t>
            </a:r>
            <a:r>
              <a:rPr lang="en-GB" sz="1200">
                <a:solidFill>
                  <a:srgbClr val="1A1F2C"/>
                </a:solidFill>
                <a:latin typeface="Arial"/>
              </a:rPr>
              <a:t>Automation Platform</a:t>
            </a:r>
            <a:endParaRPr sz="1200" dirty="0">
              <a:solidFill>
                <a:srgbClr val="1A1F2C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85048" y="5495544"/>
            <a:ext cx="3044952" cy="581698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r>
              <a:rPr sz="1100" dirty="0">
                <a:solidFill>
                  <a:srgbClr val="556073"/>
                </a:solidFill>
                <a:latin typeface="Arial"/>
              </a:rPr>
              <a:t>Bring something annoying from your last engagement </a:t>
            </a:r>
            <a:r>
              <a:rPr lang="en-US" sz="1100" dirty="0">
                <a:solidFill>
                  <a:srgbClr val="556073"/>
                </a:solidFill>
                <a:latin typeface="Arial"/>
              </a:rPr>
              <a:t>-</a:t>
            </a:r>
            <a:r>
              <a:rPr sz="1100" dirty="0">
                <a:solidFill>
                  <a:srgbClr val="556073"/>
                </a:solidFill>
                <a:latin typeface="Arial"/>
              </a:rPr>
              <a:t> that's always the best first blueprint.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Dell Tech color update">
  <a:themeElements>
    <a:clrScheme name="Brand Color Evolution">
      <a:dk1>
        <a:srgbClr val="F0F0F0"/>
      </a:dk1>
      <a:lt1>
        <a:srgbClr val="0672CB"/>
      </a:lt1>
      <a:dk2>
        <a:srgbClr val="FFFFFF"/>
      </a:dk2>
      <a:lt2>
        <a:srgbClr val="000000"/>
      </a:lt2>
      <a:accent1>
        <a:srgbClr val="1D2C3B"/>
      </a:accent1>
      <a:accent2>
        <a:srgbClr val="0D2155"/>
      </a:accent2>
      <a:accent3>
        <a:srgbClr val="00468B"/>
      </a:accent3>
      <a:accent4>
        <a:srgbClr val="044E52"/>
      </a:accent4>
      <a:accent5>
        <a:srgbClr val="0B7C84"/>
      </a:accent5>
      <a:accent6>
        <a:srgbClr val="3F205C"/>
      </a:accent6>
      <a:hlink>
        <a:srgbClr val="0672CB"/>
      </a:hlink>
      <a:folHlink>
        <a:srgbClr val="40155C"/>
      </a:folHlink>
    </a:clrScheme>
    <a:fontScheme name="Corporate fonts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CC3CD47-EF45-432F-9AF9-CFEDCF1F47FF}" vid="{A0E41CA2-901C-421D-9926-B463575B5F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s xmlns="c9a8f3c6-4134-4ed2-abf1-9ab44cea38c7" xsi:nil="true"/>
    <TaxCatchAll xmlns="c9a8f3c6-4134-4ed2-abf1-9ab44cea38c7" xsi:nil="true"/>
    <TaxKeywordTaxHTField xmlns="c9a8f3c6-4134-4ed2-abf1-9ab44cea38c7">
      <Terms xmlns="http://schemas.microsoft.com/office/infopath/2007/PartnerControls"/>
    </TaxKeywordTaxHTField>
    <lcf76f155ced4ddcb4097134ff3c332f xmlns="c96a20fd-d0fe-4b05-81eb-937327896eab">
      <Terms xmlns="http://schemas.microsoft.com/office/infopath/2007/PartnerControls"/>
    </lcf76f155ced4ddcb4097134ff3c332f>
    <SiteCategories xmlns="c9a8f3c6-4134-4ed2-abf1-9ab44cea38c7" xsi:nil="true"/>
    <DocumentID xmlns="c9a8f3c6-4134-4ed2-abf1-9ab44cea38c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3681888A0D6F4CAB3F279E1632A492" ma:contentTypeVersion="23" ma:contentTypeDescription="Create a new document." ma:contentTypeScope="" ma:versionID="38faa351c0cca54dc229fc84c720e3ab">
  <xsd:schema xmlns:xsd="http://www.w3.org/2001/XMLSchema" xmlns:xs="http://www.w3.org/2001/XMLSchema" xmlns:p="http://schemas.microsoft.com/office/2006/metadata/properties" xmlns:ns2="c96a20fd-d0fe-4b05-81eb-937327896eab" xmlns:ns3="c9a8f3c6-4134-4ed2-abf1-9ab44cea38c7" targetNamespace="http://schemas.microsoft.com/office/2006/metadata/properties" ma:root="true" ma:fieldsID="9d1a8cc92e345173b13802e0475ad06f" ns2:_="" ns3:_="">
    <xsd:import namespace="c96a20fd-d0fe-4b05-81eb-937327896eab"/>
    <xsd:import namespace="c9a8f3c6-4134-4ed2-abf1-9ab44cea38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iteCategories" minOccurs="0"/>
                <xsd:element ref="ns3:TaxKeywordTaxHTField" minOccurs="0"/>
                <xsd:element ref="ns3:TaxCatchAll" minOccurs="0"/>
                <xsd:element ref="ns3:Contents" minOccurs="0"/>
                <xsd:element ref="ns3:DocumentID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a20fd-d0fe-4b05-81eb-937327896e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f4a8f3d3-8814-4760-a664-575ca63320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8f3c6-4134-4ed2-abf1-9ab44cea38c7" elementFormDefault="qualified">
    <xsd:import namespace="http://schemas.microsoft.com/office/2006/documentManagement/types"/>
    <xsd:import namespace="http://schemas.microsoft.com/office/infopath/2007/PartnerControls"/>
    <xsd:element name="SiteCategories" ma:index="17" nillable="true" ma:displayName="SiteCategories" ma:default="" ma:internalName="SiteCatego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Enter Choice #1"/>
                  </xsd:restriction>
                </xsd:simpleType>
              </xsd:element>
            </xsd:sequence>
          </xsd:extension>
        </xsd:complexContent>
      </xsd:complexType>
    </xsd:element>
    <xsd:element name="TaxKeywordTaxHTField" ma:index="19" nillable="true" ma:taxonomy="true" ma:internalName="TaxKeywordTaxHTField" ma:taxonomyFieldName="TaxKeyword" ma:displayName="Enterprise Keywords" ma:fieldId="{23f27201-bee3-471e-b2e7-b64fd8b7ca38}" ma:taxonomyMulti="true" ma:sspId="f4a8f3d3-8814-4760-a664-575ca63320f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0" nillable="true" ma:displayName="Taxonomy Catch All Column" ma:hidden="true" ma:list="{936948ff-7f2c-4484-93b7-cb1e75a429f8}" ma:internalName="TaxCatchAll" ma:showField="CatchAllData" ma:web="c9a8f3c6-4134-4ed2-abf1-9ab44cea38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ntents" ma:index="21" nillable="true" ma:displayName="Contents" ma:internalName="Contents">
      <xsd:simpleType>
        <xsd:restriction base="dms:Note">
          <xsd:maxLength value="255"/>
        </xsd:restriction>
      </xsd:simpleType>
    </xsd:element>
    <xsd:element name="DocumentID" ma:index="22" nillable="true" ma:displayName="DocumentID" ma:internalName="DocumentID">
      <xsd:simpleType>
        <xsd:restriction base="dms:Text">
          <xsd:maxLength value="255"/>
        </xsd:restriction>
      </xsd:simple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E51012-B727-4B01-9EE6-0C8A68B96B4B}">
  <ds:schemaRefs>
    <ds:schemaRef ds:uri="http://schemas.openxmlformats.org/package/2006/metadata/core-properties"/>
    <ds:schemaRef ds:uri="http://purl.org/dc/dcmitype/"/>
    <ds:schemaRef ds:uri="c96a20fd-d0fe-4b05-81eb-937327896eab"/>
    <ds:schemaRef ds:uri="http://purl.org/dc/terms/"/>
    <ds:schemaRef ds:uri="http://schemas.microsoft.com/office/2006/documentManagement/types"/>
    <ds:schemaRef ds:uri="c9a8f3c6-4134-4ed2-abf1-9ab44cea38c7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2536F5C-77E1-4EDC-B025-4FDDF0DFB1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888767-1ACA-4527-989F-70C1B76C33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6a20fd-d0fe-4b05-81eb-937327896eab"/>
    <ds:schemaRef ds:uri="c9a8f3c6-4134-4ed2-abf1-9ab44cea38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Dell Technologies Template 2026</Template>
  <TotalTime>8</TotalTime>
  <Words>1433</Words>
  <Application>Microsoft Office PowerPoint</Application>
  <PresentationFormat>Widescreen</PresentationFormat>
  <Paragraphs>208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 </vt:lpstr>
      <vt:lpstr>Aptos</vt:lpstr>
      <vt:lpstr>Arial</vt:lpstr>
      <vt:lpstr>Arial Nova Light</vt:lpstr>
      <vt:lpstr>Consolas</vt:lpstr>
      <vt:lpstr>Wingdings</vt:lpstr>
      <vt:lpstr>Dell Tech color update</vt:lpstr>
      <vt:lpstr>Spec-Driven Blueprints for the Dell Automation Platform</vt:lpstr>
      <vt:lpstr>The journey ahead</vt:lpstr>
      <vt:lpstr>Meet the tools 1 of 2 - Devin</vt:lpstr>
      <vt:lpstr>Meet the tools 2 of 2 - Spec Kit</vt:lpstr>
      <vt:lpstr>The spec-driven workflow</vt:lpstr>
      <vt:lpstr>A blueprint without a spec is a one-off. A blueprint with a spec is a product the rest of the field can deploy, evolve, and maintain.</vt:lpstr>
      <vt:lpstr>Step 1 - Install Devin</vt:lpstr>
      <vt:lpstr>Step 2 - Install Spec Kit and initialize a blueprint repo</vt:lpstr>
      <vt:lpstr>Step 3 - /speckit.constitution</vt:lpstr>
      <vt:lpstr>Step 4 - /speckit.specify</vt:lpstr>
      <vt:lpstr>Step 5 - /speckit.plan</vt:lpstr>
      <vt:lpstr>Step 6 - Break it down, then build</vt:lpstr>
      <vt:lpstr>Pick a real blueprint to build today</vt:lpstr>
      <vt:lpstr>PowerPoint Presentation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Sonders, Robert</cp:lastModifiedBy>
  <cp:revision>1</cp:revision>
  <dcterms:created xsi:type="dcterms:W3CDTF">2025-06-10T19:07:08Z</dcterms:created>
  <dcterms:modified xsi:type="dcterms:W3CDTF">2026-07-02T14:15:16Z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0x0101008B3681888A0D6F4CAB3F279E1632A492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MSIP_Label_80744d05-bb34-4b7a-90cc-132cbdb578be_Enabled">
    <vt:lpwstr>true</vt:lpwstr>
  </property>
  <property fmtid="{D5CDD505-2E9C-101B-9397-08002B2CF9AE}" pid="6" name="MSIP_Label_80744d05-bb34-4b7a-90cc-132cbdb578be_SetDate">
    <vt:lpwstr>2026-07-02T14:14:58Z</vt:lpwstr>
  </property>
  <property fmtid="{D5CDD505-2E9C-101B-9397-08002B2CF9AE}" pid="7" name="MSIP_Label_80744d05-bb34-4b7a-90cc-132cbdb578be_Method">
    <vt:lpwstr>Privileged</vt:lpwstr>
  </property>
  <property fmtid="{D5CDD505-2E9C-101B-9397-08002B2CF9AE}" pid="8" name="MSIP_Label_80744d05-bb34-4b7a-90cc-132cbdb578be_Name">
    <vt:lpwstr>No Protection (Label Only)</vt:lpwstr>
  </property>
  <property fmtid="{D5CDD505-2E9C-101B-9397-08002B2CF9AE}" pid="9" name="MSIP_Label_80744d05-bb34-4b7a-90cc-132cbdb578be_SiteId">
    <vt:lpwstr>945c199a-83a2-4e80-9f8c-5a91be5752dd</vt:lpwstr>
  </property>
  <property fmtid="{D5CDD505-2E9C-101B-9397-08002B2CF9AE}" pid="10" name="MSIP_Label_80744d05-bb34-4b7a-90cc-132cbdb578be_ActionId">
    <vt:lpwstr>3e31304e-aed6-4c69-93dc-516a4ba77029</vt:lpwstr>
  </property>
  <property fmtid="{D5CDD505-2E9C-101B-9397-08002B2CF9AE}" pid="11" name="MSIP_Label_80744d05-bb34-4b7a-90cc-132cbdb578be_ContentBits">
    <vt:lpwstr>1</vt:lpwstr>
  </property>
  <property fmtid="{D5CDD505-2E9C-101B-9397-08002B2CF9AE}" pid="12" name="MSIP_Label_80744d05-bb34-4b7a-90cc-132cbdb578be_Tag">
    <vt:lpwstr>10, 0, 1, 1</vt:lpwstr>
  </property>
  <property fmtid="{D5CDD505-2E9C-101B-9397-08002B2CF9AE}" pid="13" name="ClassificationContentMarkingHeaderLocations">
    <vt:lpwstr>Dell Tech color update:3</vt:lpwstr>
  </property>
  <property fmtid="{D5CDD505-2E9C-101B-9397-08002B2CF9AE}" pid="14" name="ClassificationContentMarkingHeaderText">
    <vt:lpwstr>Dell Customer Communication - Confidential</vt:lpwstr>
  </property>
</Properties>
</file>