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56" r:id="rId5"/>
    <p:sldId id="257" r:id="rId6"/>
    <p:sldId id="258" r:id="rId7"/>
    <p:sldId id="259" r:id="rId8"/>
    <p:sldId id="276" r:id="rId9"/>
    <p:sldId id="261" r:id="rId10"/>
    <p:sldId id="262" r:id="rId11"/>
    <p:sldId id="263" r:id="rId12"/>
    <p:sldId id="264" r:id="rId13"/>
    <p:sldId id="265" r:id="rId14"/>
    <p:sldId id="266" r:id="rId15"/>
    <p:sldId id="277" r:id="rId16"/>
    <p:sldId id="267" r:id="rId17"/>
    <p:sldId id="278" r:id="rId18"/>
    <p:sldId id="268" r:id="rId19"/>
    <p:sldId id="269" r:id="rId20"/>
    <p:sldId id="271" r:id="rId21"/>
    <p:sldId id="279" r:id="rId22"/>
    <p:sldId id="272" r:id="rId23"/>
    <p:sldId id="273" r:id="rId24"/>
    <p:sldId id="274" r:id="rId25"/>
    <p:sldId id="27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0CADDA1-1C3F-42B3-891C-64FF9966107C}">
          <p14:sldIdLst>
            <p14:sldId id="256"/>
          </p14:sldIdLst>
        </p14:section>
        <p14:section name="Prompt driven" id="{3F883022-5DC3-40C6-8DD7-9154EFBF47C9}">
          <p14:sldIdLst>
            <p14:sldId id="257"/>
            <p14:sldId id="258"/>
          </p14:sldIdLst>
        </p14:section>
        <p14:section name="Spec first" id="{0474B435-B734-4C5B-8ECC-769E92F3101D}">
          <p14:sldIdLst>
            <p14:sldId id="259"/>
            <p14:sldId id="276"/>
            <p14:sldId id="261"/>
            <p14:sldId id="262"/>
            <p14:sldId id="263"/>
            <p14:sldId id="264"/>
            <p14:sldId id="265"/>
            <p14:sldId id="266"/>
            <p14:sldId id="277"/>
            <p14:sldId id="267"/>
            <p14:sldId id="278"/>
            <p14:sldId id="268"/>
            <p14:sldId id="269"/>
            <p14:sldId id="271"/>
            <p14:sldId id="279"/>
          </p14:sldIdLst>
        </p14:section>
        <p14:section name="Get started" id="{9A7452BE-7613-4AE9-B297-6C8C9812F55D}">
          <p14:sldIdLst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70C000A-F15E-CDEB-5FF0-3591E52921F2}" name="Daniels, Michelle" initials="DM" userId="S::michelle_daniels@dell.com::068e6cfe-dc47-43fe-8b35-a3a67322fa9c" providerId="AD"/>
  <p188:author id="{1D511275-967C-2AE7-D834-C852EF495766}" name="Daniels, Michelle" initials="MD" userId="S::Michelle_Daniels@Dell.com::068e6cfe-dc47-43fe-8b35-a3a67322fa9c" providerId="AD"/>
  <p188:author id="{ED2983AF-9298-20EC-AEF1-8D41B4975210}" name="Gonzales, Dionne" initials="DG" userId="S::Dionne_Gonzales@Dell.com::4e7974cd-2679-40c4-86d8-b9a4d317dfc5" providerId="AD"/>
  <p188:author id="{374E5DB5-84AC-8B4E-C77D-C73014835CAD}" name="Gonzales, Dionne" initials="GD" userId="S::dionne_gonzales@dell.com::4e7974cd-2679-40c4-86d8-b9a4d317dfc5" providerId="AD"/>
  <p188:author id="{82CCC5B6-CD32-E5B0-E0EF-0830A25402C4}" name="Dawson, John" initials="JD" userId="S::J.Dawson@dell.com::af5fcba0-fba6-4a8d-8b8c-c882628aa348" providerId="AD"/>
  <p188:author id="{F00F52F7-4E7B-29BA-A725-5D62A1133A93}" name="Lorincova, Katarina" initials="" userId="S::Katarina_Lorincova@Dell.com::a658c2af-9125-48b0-ac2b-a8cc15ee2a0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586D"/>
    <a:srgbClr val="D2D2D2"/>
    <a:srgbClr val="66278F"/>
    <a:srgbClr val="B6B6B6"/>
    <a:srgbClr val="E5E3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49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326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ders, Robert" userId="fbb7e790-7c81-43ad-9c38-b18cbf2e2b1d" providerId="ADAL" clId="{7ABE44DF-A0B6-4B62-B7EB-FDE3DD496FE5}"/>
    <pc:docChg chg="mod modMainMaster">
      <pc:chgData name="Sonders, Robert" userId="fbb7e790-7c81-43ad-9c38-b18cbf2e2b1d" providerId="ADAL" clId="{7ABE44DF-A0B6-4B62-B7EB-FDE3DD496FE5}" dt="2026-07-04T00:13:23.431" v="3" actId="33475"/>
      <pc:docMkLst>
        <pc:docMk/>
      </pc:docMkLst>
      <pc:sldMasterChg chg="addSp delSp mod">
        <pc:chgData name="Sonders, Robert" userId="fbb7e790-7c81-43ad-9c38-b18cbf2e2b1d" providerId="ADAL" clId="{7ABE44DF-A0B6-4B62-B7EB-FDE3DD496FE5}" dt="2026-07-04T00:13:23.429" v="2" actId="33475"/>
        <pc:sldMasterMkLst>
          <pc:docMk/>
          <pc:sldMasterMk cId="550481734" sldId="2147483648"/>
        </pc:sldMasterMkLst>
        <pc:spChg chg="add del">
          <ac:chgData name="Sonders, Robert" userId="fbb7e790-7c81-43ad-9c38-b18cbf2e2b1d" providerId="ADAL" clId="{7ABE44DF-A0B6-4B62-B7EB-FDE3DD496FE5}" dt="2026-07-04T00:13:23.429" v="2" actId="33475"/>
          <ac:spMkLst>
            <pc:docMk/>
            <pc:sldMasterMk cId="550481734" sldId="2147483648"/>
            <ac:spMk id="3" creationId="{F9A21873-0353-5A5B-C755-8BAC45993B04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DFCB21-1E6F-50A3-E0FB-4E5876AC9F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4C7EDF-3DD7-8C3C-CB07-889044169C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31D599-9EB2-46E2-AC39-602382AE348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64EC8E-89EA-93B5-9F90-507CD528B9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334D8C-926E-0A26-98B4-CA787A0776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EEA91-EA4F-4E9B-8E41-4498703D9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757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2E8E08-BC0D-4F7B-8FE8-F3B7386FBAA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227301-2725-4FFF-B33E-C13F64EB0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079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Cosm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366544EA-090D-4754-BF2B-7E73886E3793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8DAE177-2ADE-7BF3-92D9-F9B7E6A98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099155"/>
            <a:ext cx="548640" cy="13447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AC71E2-5BFD-234C-4016-6842B4F875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829E9C44-E8DE-15CC-8593-1D75D2287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170" y="3635531"/>
            <a:ext cx="7950937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70AA270-DB4B-D4E4-01A3-5E76A5D66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38" y="1282334"/>
            <a:ext cx="799794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16465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Raven">
    <p:bg>
      <p:bgPr>
        <a:solidFill>
          <a:srgbClr val="4058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EEE540F-F32F-ACFB-63DF-516E08093657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8DAE177-2ADE-7BF3-92D9-F9B7E6A98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099155"/>
            <a:ext cx="548640" cy="13447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AC71E2-5BFD-234C-4016-6842B4F875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829E9C44-E8DE-15CC-8593-1D75D2287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170" y="3635531"/>
            <a:ext cx="7950937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70AA270-DB4B-D4E4-01A3-5E76A5D66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38" y="1282334"/>
            <a:ext cx="799794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94050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Dell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A222BE9-A049-CD29-C5E1-0C57482DBC7A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8DAE177-2ADE-7BF3-92D9-F9B7E6A98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099155"/>
            <a:ext cx="548640" cy="134471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AC71E2-5BFD-234C-4016-6842B4F875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829E9C44-E8DE-15CC-8593-1D75D2287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170" y="3635531"/>
            <a:ext cx="7950937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70AA270-DB4B-D4E4-01A3-5E76A5D66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38" y="1282334"/>
            <a:ext cx="799794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36852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Cosm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037B9-85E0-9D2D-D4DD-C2F353DC4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9" y="5090333"/>
            <a:ext cx="9715500" cy="747897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16C5C2-17B1-0BAB-BE8C-305DB6C0A3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A4E0E02-D811-0864-32FB-31649EB506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3900" y="914400"/>
            <a:ext cx="3467100" cy="2514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1363" indent="-284163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400259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Midnight/Dell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0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799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1"/>
                </a:solidFill>
                <a:latin typeface="Arial 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8684917-6517-4801-D799-032C14CD0F6D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84832A-B523-8290-24BC-7E21F74DB989}"/>
              </a:ext>
            </a:extLst>
          </p:cNvPr>
          <p:cNvSpPr>
            <a:spLocks/>
          </p:cNvSpPr>
          <p:nvPr userDrawn="1"/>
        </p:nvSpPr>
        <p:spPr>
          <a:xfrm>
            <a:off x="10153650" y="6286500"/>
            <a:ext cx="1885950" cy="571499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1434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Midnight/Dell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B8D3F8-2C6C-6419-483A-A6C9DC09A37C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0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172566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w/photo Midnight/Dell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5D59AC4-89BF-88E0-0B9A-ADE4E08A0824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FF4B414-00F5-1172-09E9-197EF6C8CF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67050" y="0"/>
            <a:ext cx="912495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</p:spTree>
    <p:extLst>
      <p:ext uri="{BB962C8B-B14F-4D97-AF65-F5344CB8AC3E}">
        <p14:creationId xmlns:p14="http://schemas.microsoft.com/office/powerpoint/2010/main" val="29884817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Midnight/Dell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7DF1CB-5F39-48E0-B2DB-764E018FDB2D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0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 hasCustomPrompt="1"/>
          </p:nvPr>
        </p:nvSpPr>
        <p:spPr>
          <a:xfrm>
            <a:off x="44386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 hasCustomPrompt="1"/>
          </p:nvPr>
        </p:nvSpPr>
        <p:spPr>
          <a:xfrm>
            <a:off x="5524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algn="ctr"/>
            <a:r>
              <a:rPr lang="en-US">
                <a:solidFill>
                  <a:schemeClr val="bg2"/>
                </a:solidFill>
              </a:rPr>
              <a:t>These boxes can be used for text, photos, icons, quotes, etc.</a:t>
            </a:r>
          </a:p>
          <a:p>
            <a:pPr algn="ctr"/>
            <a:r>
              <a:rPr lang="en-US">
                <a:solidFill>
                  <a:schemeClr val="bg2"/>
                </a:solidFill>
              </a:rPr>
              <a:t>Can be moved or deleted.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83248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70C93A-C784-4B2F-A8F0-B35D5DE9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555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bar w/photo Midnight/Dell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3829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3829050"/>
            <a:ext cx="5715000" cy="23431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1"/>
                </a:solidFill>
              </a:defRPr>
            </a:lvl1pPr>
            <a:lvl2pPr marL="342900" indent="-342900"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0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02093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Midnight/Del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868ACC7-8EB3-3777-94F1-2D5FF7F38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9" y="3647347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A0713-16B4-85B9-9747-E21C7624E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103523"/>
            <a:ext cx="548640" cy="13447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17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Raven/Dell Blue">
    <p:bg>
      <p:bgPr>
        <a:solidFill>
          <a:srgbClr val="4058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0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799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1"/>
                </a:solidFill>
                <a:latin typeface="Arial 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A956E6A-F5A7-AAD1-EB8C-081A85CB33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84832A-B523-8290-24BC-7E21F74DB989}"/>
              </a:ext>
            </a:extLst>
          </p:cNvPr>
          <p:cNvSpPr>
            <a:spLocks/>
          </p:cNvSpPr>
          <p:nvPr userDrawn="1"/>
        </p:nvSpPr>
        <p:spPr>
          <a:xfrm>
            <a:off x="10153650" y="6286500"/>
            <a:ext cx="1885950" cy="571499"/>
          </a:xfrm>
          <a:prstGeom prst="rect">
            <a:avLst/>
          </a:prstGeom>
          <a:solidFill>
            <a:srgbClr val="40586D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6196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Raven/Dell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B8D3F8-2C6C-6419-483A-A6C9DC09A37C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0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41159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w/photo Raven/Dell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5D59AC4-89BF-88E0-0B9A-ADE4E08A0824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FF4B414-00F5-1172-09E9-197EF6C8CF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67050" y="0"/>
            <a:ext cx="912495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</p:spTree>
    <p:extLst>
      <p:ext uri="{BB962C8B-B14F-4D97-AF65-F5344CB8AC3E}">
        <p14:creationId xmlns:p14="http://schemas.microsoft.com/office/powerpoint/2010/main" val="37926982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Raven/Dell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7DF1CB-5F39-48E0-B2DB-764E018FDB2D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40586D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0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 hasCustomPrompt="1"/>
          </p:nvPr>
        </p:nvSpPr>
        <p:spPr>
          <a:xfrm>
            <a:off x="44386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 hasCustomPrompt="1"/>
          </p:nvPr>
        </p:nvSpPr>
        <p:spPr>
          <a:xfrm>
            <a:off x="5524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algn="ctr"/>
            <a:r>
              <a:rPr lang="en-US">
                <a:solidFill>
                  <a:schemeClr val="bg2"/>
                </a:solidFill>
              </a:rPr>
              <a:t>These boxes can be used for text, photos, icons, quotes, etc.</a:t>
            </a:r>
          </a:p>
          <a:p>
            <a:pPr algn="ctr"/>
            <a:r>
              <a:rPr lang="en-US">
                <a:solidFill>
                  <a:schemeClr val="bg2"/>
                </a:solidFill>
              </a:rPr>
              <a:t>Can be moved or deleted.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83248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70C93A-C784-4B2F-A8F0-B35D5DE9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409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bar w/photo Raven/Dell Blue">
    <p:bg>
      <p:bgPr>
        <a:solidFill>
          <a:srgbClr val="4058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3829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3829050"/>
            <a:ext cx="5715000" cy="23431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1"/>
                </a:solidFill>
              </a:defRPr>
            </a:lvl1pPr>
            <a:lvl2pPr marL="342900" indent="-342900"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0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269709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Raven/Del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868ACC7-8EB3-3777-94F1-2D5FF7F38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9" y="3647347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A0713-16B4-85B9-9747-E21C7624E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103523"/>
            <a:ext cx="548640" cy="13447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0877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al/Fore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0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799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1"/>
                </a:solidFill>
                <a:latin typeface="Arial 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49EFE44-2848-7F23-2E65-C2432B66EDA9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84832A-B523-8290-24BC-7E21F74DB989}"/>
              </a:ext>
            </a:extLst>
          </p:cNvPr>
          <p:cNvSpPr>
            <a:spLocks/>
          </p:cNvSpPr>
          <p:nvPr userDrawn="1"/>
        </p:nvSpPr>
        <p:spPr>
          <a:xfrm>
            <a:off x="10153650" y="6286500"/>
            <a:ext cx="1885950" cy="571499"/>
          </a:xfrm>
          <a:prstGeom prst="rect">
            <a:avLst/>
          </a:prstGeom>
          <a:solidFill>
            <a:schemeClr val="accent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888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Teal/Fore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B8D3F8-2C6C-6419-483A-A6C9DC09A37C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0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3A8302-7725-CC2D-50F0-19C249DD9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6218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w/photo Teal/Fore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5D59AC4-89BF-88E0-0B9A-ADE4E08A0824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FF4B414-00F5-1172-09E9-197EF6C8CF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67050" y="0"/>
            <a:ext cx="912495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17BC2F-04DA-81D3-C357-B1A1B22D6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3716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Teal/Fore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B71682E-23C4-24FB-FA91-6363C0063C62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B87288-D95C-3502-9D22-3B1836ACF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800100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1">
            <a:extLst>
              <a:ext uri="{FF2B5EF4-FFF2-40B4-BE49-F238E27FC236}">
                <a16:creationId xmlns:a16="http://schemas.microsoft.com/office/drawing/2014/main" id="{13ADEF55-295F-70CA-1CFE-66FAB5020A3A}"/>
              </a:ext>
            </a:extLst>
          </p:cNvPr>
          <p:cNvSpPr>
            <a:spLocks noGrp="1" noChangeAspect="1"/>
          </p:cNvSpPr>
          <p:nvPr>
            <p:ph sz="quarter" idx="11" hasCustomPrompt="1"/>
          </p:nvPr>
        </p:nvSpPr>
        <p:spPr>
          <a:xfrm>
            <a:off x="44386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7" name="Content Placeholder 11">
            <a:extLst>
              <a:ext uri="{FF2B5EF4-FFF2-40B4-BE49-F238E27FC236}">
                <a16:creationId xmlns:a16="http://schemas.microsoft.com/office/drawing/2014/main" id="{60F0AC9E-B6D9-3325-1E5A-4C3F85654187}"/>
              </a:ext>
            </a:extLst>
          </p:cNvPr>
          <p:cNvSpPr>
            <a:spLocks noGrp="1" noChangeAspect="1"/>
          </p:cNvSpPr>
          <p:nvPr>
            <p:ph sz="quarter" idx="12" hasCustomPrompt="1"/>
          </p:nvPr>
        </p:nvSpPr>
        <p:spPr>
          <a:xfrm>
            <a:off x="5524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algn="ctr"/>
            <a:r>
              <a:rPr lang="en-US">
                <a:solidFill>
                  <a:schemeClr val="bg2"/>
                </a:solidFill>
              </a:rPr>
              <a:t>These boxes can be used for text, photos, icons, quotes, etc.</a:t>
            </a:r>
          </a:p>
          <a:p>
            <a:pPr algn="ctr"/>
            <a:r>
              <a:rPr lang="en-US">
                <a:solidFill>
                  <a:schemeClr val="bg2"/>
                </a:solidFill>
              </a:rPr>
              <a:t>Can be moved or deleted.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37357191-2ABA-F6D5-3676-E3FFE044C1C8}"/>
              </a:ext>
            </a:extLst>
          </p:cNvPr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83248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048AD6-BABB-92CA-C41C-2FC7E1E3E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761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bar w/photo Teal/Fore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4E6FC7-4917-CF88-A22A-67F16297CC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E5375E4-FD7C-1863-274E-160A7140FB92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82069647-EBF5-C050-174A-40E287CA4B1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DADDB5-902B-1244-A68C-82D604A76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3829050"/>
            <a:ext cx="457200" cy="1143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67DB779-DAEF-67BD-EFA7-1128DE074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FAF49F2C-132F-D956-0103-F99A393A67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3829050"/>
            <a:ext cx="5715000" cy="23431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1"/>
                </a:solidFill>
              </a:defRPr>
            </a:lvl1pPr>
            <a:lvl2pPr marL="342900" indent="-342900"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2092A01-B82C-CF43-ABF2-C369482E7560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0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813531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Cosmos/Fores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868ACC7-8EB3-3777-94F1-2D5FF7F38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9" y="3647347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A0713-16B4-85B9-9747-E21C7624E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103523"/>
            <a:ext cx="548640" cy="134471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0986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Dusk/Plum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FB6DC9E-6879-DB58-7ED2-F90BA9672D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84832A-B523-8290-24BC-7E21F74DB989}"/>
              </a:ext>
            </a:extLst>
          </p:cNvPr>
          <p:cNvSpPr>
            <a:spLocks/>
          </p:cNvSpPr>
          <p:nvPr userDrawn="1"/>
        </p:nvSpPr>
        <p:spPr>
          <a:xfrm>
            <a:off x="10153650" y="6286500"/>
            <a:ext cx="1885950" cy="571499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0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66278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799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1"/>
                </a:solidFill>
                <a:latin typeface="Arial 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02545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Dusk/Plu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B8D3F8-2C6C-6419-483A-A6C9DC09A37C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0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66278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400415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w/photo Dusk/Plu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5D59AC4-89BF-88E0-0B9A-ADE4E08A0824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66278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FF4B414-00F5-1172-09E9-197EF6C8CF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67050" y="0"/>
            <a:ext cx="912495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</p:spTree>
    <p:extLst>
      <p:ext uri="{BB962C8B-B14F-4D97-AF65-F5344CB8AC3E}">
        <p14:creationId xmlns:p14="http://schemas.microsoft.com/office/powerpoint/2010/main" val="4937070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Dusk/Plu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7DF1CB-5F39-48E0-B2DB-764E018FDB2D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0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 hasCustomPrompt="1"/>
          </p:nvPr>
        </p:nvSpPr>
        <p:spPr>
          <a:xfrm>
            <a:off x="44386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 hasCustomPrompt="1"/>
          </p:nvPr>
        </p:nvSpPr>
        <p:spPr>
          <a:xfrm>
            <a:off x="5524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algn="ctr"/>
            <a:r>
              <a:rPr lang="en-US">
                <a:solidFill>
                  <a:schemeClr val="bg2"/>
                </a:solidFill>
              </a:rPr>
              <a:t>These boxes can be used for text, photos, icons, quotes, etc.</a:t>
            </a:r>
          </a:p>
          <a:p>
            <a:pPr algn="ctr"/>
            <a:r>
              <a:rPr lang="en-US">
                <a:solidFill>
                  <a:schemeClr val="bg2"/>
                </a:solidFill>
              </a:rPr>
              <a:t>Can be moved or deleted.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83248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70C93A-C784-4B2F-A8F0-B35D5DE9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66278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0106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bar w/photo Dusk/Plum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3829050"/>
            <a:ext cx="457200" cy="114300"/>
          </a:xfrm>
          <a:prstGeom prst="rect">
            <a:avLst/>
          </a:prstGeom>
          <a:solidFill>
            <a:srgbClr val="66278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3829050"/>
            <a:ext cx="5715000" cy="23431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1"/>
                </a:solidFill>
              </a:defRPr>
            </a:lvl1pPr>
            <a:lvl2pPr marL="342900" indent="-342900"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0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550434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usk/Plu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868ACC7-8EB3-3777-94F1-2D5FF7F38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9" y="3647347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A0713-16B4-85B9-9747-E21C7624E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103523"/>
            <a:ext cx="548640" cy="134471"/>
          </a:xfrm>
          <a:prstGeom prst="rect">
            <a:avLst/>
          </a:prstGeom>
          <a:solidFill>
            <a:srgbClr val="66278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69246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22796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86" y="857250"/>
            <a:ext cx="1142552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0286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86" y="857250"/>
            <a:ext cx="1142552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FF1C11A-D2F8-6FB5-BF86-6BAE985D7E1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81000" y="1600200"/>
            <a:ext cx="11430000" cy="4572000"/>
          </a:xfrm>
          <a:prstGeom prst="rect">
            <a:avLst/>
          </a:prstGeom>
        </p:spPr>
        <p:txBody>
          <a:bodyPr lIns="0" tIns="0" rIns="0" bIns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682821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6FDEC5-669E-1290-C6B1-AAD6D591AF3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3246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111536A-C42E-9259-AF7B-CE2F6E83D4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1657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9691E28-6DB6-B317-230D-EA9AF48AD0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486" y="857250"/>
            <a:ext cx="1142552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8001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A85B91E-30A3-F97B-BA43-57B6B049DE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4370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30712" indent="-230712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783" indent="-230712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0855" indent="-22436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DAAF5BB-4B68-17DF-1B25-B24D35D4001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24600" y="1374370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30712" indent="-230712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783" indent="-230712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0855" indent="-22436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4AA7879-C82E-8948-AD02-9A32AC0A7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486" y="857250"/>
            <a:ext cx="1142552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4670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776682E0-CE1F-AA61-18BC-3F9A7D3B7A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31FA84DA-CD6B-2917-FB96-970809AEE5E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32394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801A5972-D45A-AFDC-7AF1-E84E7AF7D0F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83788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87A7032-639A-5411-6118-BBA4991224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486" y="857250"/>
            <a:ext cx="1142552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9711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9FB5CBE-8FB3-AD47-E13E-A0AD6C26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-50326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4029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ogo slide Cosm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1BF1CE4-153A-85AA-B235-515D0ECCA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B6F1130-2447-2F8F-D6CA-4D4B8D097E95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9733253-4A33-BEC0-24F2-891BAD9AA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7200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16262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ogo slide Raven">
    <p:bg>
      <p:bgPr>
        <a:solidFill>
          <a:srgbClr val="4058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B63F84D-D504-A280-C4DF-3A404C91A3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1BF1CE4-153A-85AA-B235-515D0ECCA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363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ogo slide Dell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1B2209E-1FAF-A750-E461-F5A96B13857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62515BD-28D6-59CF-B1CD-2360F096E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3221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998778-5258-3322-48F3-EA6BBD2A4894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9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D0E95807-F374-4095-7824-1009D90927D6}"/>
              </a:ext>
            </a:extLst>
          </p:cNvPr>
          <p:cNvSpPr txBox="1"/>
          <p:nvPr userDrawn="1"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70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430652FF-3D95-8823-86D1-56EE9D45B67C}"/>
              </a:ext>
            </a:extLst>
          </p:cNvPr>
          <p:cNvSpPr txBox="1"/>
          <p:nvPr userDrawn="1"/>
        </p:nvSpPr>
        <p:spPr>
          <a:xfrm>
            <a:off x="5120251" y="6702028"/>
            <a:ext cx="94577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0481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52" r:id="rId17"/>
    <p:sldLayoutId id="2147483753" r:id="rId18"/>
    <p:sldLayoutId id="2147483754" r:id="rId19"/>
    <p:sldLayoutId id="2147483755" r:id="rId20"/>
    <p:sldLayoutId id="2147483756" r:id="rId21"/>
    <p:sldLayoutId id="2147483757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79" r:id="rId29"/>
    <p:sldLayoutId id="2147483774" r:id="rId30"/>
    <p:sldLayoutId id="2147483751" r:id="rId31"/>
    <p:sldLayoutId id="2147483775" r:id="rId32"/>
    <p:sldLayoutId id="2147483776" r:id="rId33"/>
    <p:sldLayoutId id="2147483777" r:id="rId34"/>
    <p:sldLayoutId id="2147483778" r:id="rId35"/>
    <p:sldLayoutId id="2147483780" r:id="rId36"/>
    <p:sldLayoutId id="2147483749" r:id="rId37"/>
    <p:sldLayoutId id="2147483750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 Nova Light" panose="020B03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Spec-Driven Development for Dell Automation Platform blueprints </a:t>
            </a:r>
            <a:r>
              <a:rPr lang="en-GB" dirty="0"/>
              <a:t>-</a:t>
            </a:r>
            <a:r>
              <a:rPr dirty="0"/>
              <a:t> a getting-started guide with Spec Kit and Blueprint Assist.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Idea to Running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/>
              <a:t>AI can write your automation in minutes.</a:t>
            </a:r>
          </a:p>
          <a:p>
            <a:r>
              <a:rPr sz="4000" dirty="0"/>
              <a:t>Keeping it correct, consistent, and maintainable </a:t>
            </a:r>
            <a:r>
              <a:rPr lang="en-GB" sz="4000" dirty="0"/>
              <a:t>-</a:t>
            </a:r>
            <a:r>
              <a:rPr sz="4000" dirty="0"/>
              <a:t> that's the hard part.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Prompt-driven automation loses the plot</a:t>
            </a:r>
          </a:p>
        </p:txBody>
      </p:sp>
      <p:sp>
        <p:nvSpPr>
          <p:cNvPr id="3" name="anim00_bubble"/>
          <p:cNvSpPr/>
          <p:nvPr/>
        </p:nvSpPr>
        <p:spPr>
          <a:xfrm>
            <a:off x="640080" y="1371600"/>
            <a:ext cx="3840480" cy="566928"/>
          </a:xfrm>
          <a:prstGeom prst="roundRect">
            <a:avLst>
              <a:gd name="adj" fmla="val 35000"/>
            </a:avLst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rial Nova"/>
              </a:rPr>
              <a:t>“Build me a VM blueprint”</a:t>
            </a:r>
          </a:p>
        </p:txBody>
      </p:sp>
      <p:sp>
        <p:nvSpPr>
          <p:cNvPr id="4" name="anim01_bubble"/>
          <p:cNvSpPr/>
          <p:nvPr/>
        </p:nvSpPr>
        <p:spPr>
          <a:xfrm>
            <a:off x="1920240" y="2057400"/>
            <a:ext cx="3840480" cy="566928"/>
          </a:xfrm>
          <a:prstGeom prst="roundRect">
            <a:avLst>
              <a:gd name="adj" fmla="val 350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[ 400 lines of YAML ]</a:t>
            </a:r>
          </a:p>
        </p:txBody>
      </p:sp>
      <p:sp>
        <p:nvSpPr>
          <p:cNvPr id="5" name="anim02_bubble"/>
          <p:cNvSpPr/>
          <p:nvPr/>
        </p:nvSpPr>
        <p:spPr>
          <a:xfrm>
            <a:off x="640080" y="2743200"/>
            <a:ext cx="3840480" cy="566928"/>
          </a:xfrm>
          <a:prstGeom prst="roundRect">
            <a:avLst>
              <a:gd name="adj" fmla="val 35000"/>
            </a:avLst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rial Nova"/>
              </a:rPr>
              <a:t>“Actually, add networking”</a:t>
            </a:r>
          </a:p>
        </p:txBody>
      </p:sp>
      <p:sp>
        <p:nvSpPr>
          <p:cNvPr id="6" name="anim03_bubble"/>
          <p:cNvSpPr/>
          <p:nvPr/>
        </p:nvSpPr>
        <p:spPr>
          <a:xfrm>
            <a:off x="1920240" y="3429000"/>
            <a:ext cx="3840480" cy="566928"/>
          </a:xfrm>
          <a:prstGeom prst="roundRect">
            <a:avLst>
              <a:gd name="adj" fmla="val 350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[ patch ]</a:t>
            </a:r>
          </a:p>
        </p:txBody>
      </p:sp>
      <p:sp>
        <p:nvSpPr>
          <p:cNvPr id="7" name="anim04_bubble"/>
          <p:cNvSpPr/>
          <p:nvPr/>
        </p:nvSpPr>
        <p:spPr>
          <a:xfrm>
            <a:off x="640080" y="4114800"/>
            <a:ext cx="3840480" cy="566928"/>
          </a:xfrm>
          <a:prstGeom prst="roundRect">
            <a:avLst>
              <a:gd name="adj" fmla="val 35000"/>
            </a:avLst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rial Nova"/>
              </a:rPr>
              <a:t>“Now make it HA”</a:t>
            </a:r>
          </a:p>
        </p:txBody>
      </p:sp>
      <p:sp>
        <p:nvSpPr>
          <p:cNvPr id="8" name="anim05_bubble"/>
          <p:cNvSpPr/>
          <p:nvPr/>
        </p:nvSpPr>
        <p:spPr>
          <a:xfrm>
            <a:off x="1920240" y="4800600"/>
            <a:ext cx="3840480" cy="566928"/>
          </a:xfrm>
          <a:prstGeom prst="roundRect">
            <a:avLst>
              <a:gd name="adj" fmla="val 350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[ patch on a patch ]</a:t>
            </a:r>
          </a:p>
        </p:txBody>
      </p:sp>
      <p:sp>
        <p:nvSpPr>
          <p:cNvPr id="9" name="anim06_note"/>
          <p:cNvSpPr txBox="1"/>
          <p:nvPr/>
        </p:nvSpPr>
        <p:spPr>
          <a:xfrm>
            <a:off x="640080" y="5623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3F205C"/>
                </a:solidFill>
                <a:latin typeface="Arial Nova Light"/>
              </a:rPr>
              <a:t>…and none of it is written down anywhere.</a:t>
            </a:r>
          </a:p>
        </p:txBody>
      </p:sp>
      <p:sp>
        <p:nvSpPr>
          <p:cNvPr id="10" name="anim07_later"/>
          <p:cNvSpPr/>
          <p:nvPr/>
        </p:nvSpPr>
        <p:spPr>
          <a:xfrm>
            <a:off x="6675120" y="1554480"/>
            <a:ext cx="4937760" cy="4206240"/>
          </a:xfrm>
          <a:prstGeom prst="roundRect">
            <a:avLst>
              <a:gd name="adj" fmla="val 5500"/>
            </a:avLst>
          </a:prstGeom>
          <a:solidFill>
            <a:srgbClr val="3F2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nim07_h"/>
          <p:cNvSpPr txBox="1"/>
          <p:nvPr/>
        </p:nvSpPr>
        <p:spPr>
          <a:xfrm>
            <a:off x="7040880" y="18288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C9D7E8"/>
                </a:solidFill>
                <a:latin typeface="Arial Nova Light"/>
              </a:rPr>
              <a:t>SIX MONTHS LATER</a:t>
            </a:r>
          </a:p>
        </p:txBody>
      </p:sp>
      <p:sp>
        <p:nvSpPr>
          <p:cNvPr id="12" name="anim07_qs"/>
          <p:cNvSpPr txBox="1"/>
          <p:nvPr/>
        </p:nvSpPr>
        <p:spPr>
          <a:xfrm>
            <a:off x="7040880" y="2468880"/>
            <a:ext cx="4206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700" b="0" dirty="0">
                <a:solidFill>
                  <a:srgbClr val="FFFFFF"/>
                </a:solidFill>
                <a:latin typeface="Arial Nova Light"/>
              </a:rPr>
              <a:t>“Why does it work this way?”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700" b="0" dirty="0">
                <a:solidFill>
                  <a:srgbClr val="FFFFFF"/>
                </a:solidFill>
                <a:latin typeface="Arial Nova Light"/>
              </a:rPr>
              <a:t>“Who asked for that?”</a:t>
            </a:r>
          </a:p>
          <a:p>
            <a:pPr algn="l">
              <a:lnSpc>
                <a:spcPct val="112000"/>
              </a:lnSpc>
              <a:spcAft>
                <a:spcPts val="1800"/>
              </a:spcAft>
            </a:pPr>
            <a:r>
              <a:rPr sz="1700" b="0" dirty="0">
                <a:solidFill>
                  <a:srgbClr val="FFFFFF"/>
                </a:solidFill>
                <a:latin typeface="Arial Nova Light"/>
              </a:rPr>
              <a:t>“Can we change it safely?”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dirty="0">
                <a:solidFill>
                  <a:srgbClr val="C9D7E8"/>
                </a:solidFill>
                <a:latin typeface="Arial Nova Light"/>
              </a:rPr>
              <a:t>Nobody knows. The intent lived in a chat window.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/>
      <p:bldP spid="10" grpId="0" animBg="1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878" y="3784507"/>
            <a:ext cx="10839809" cy="2676747"/>
          </a:xfrm>
        </p:spPr>
        <p:txBody>
          <a:bodyPr/>
          <a:lstStyle/>
          <a:p>
            <a:r>
              <a:rPr sz="4000" dirty="0"/>
              <a:t>Write down what you want before the AI builds it.</a:t>
            </a:r>
          </a:p>
          <a:p>
            <a:r>
              <a:rPr sz="4000" dirty="0"/>
              <a:t>Keep that document alive.</a:t>
            </a:r>
          </a:p>
          <a:p>
            <a:r>
              <a:rPr sz="4000" dirty="0"/>
              <a:t>That's spec-driven development.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Six steps. Each one narrows the next.</a:t>
            </a:r>
          </a:p>
        </p:txBody>
      </p:sp>
      <p:sp>
        <p:nvSpPr>
          <p:cNvPr id="3" name="stage0"/>
          <p:cNvSpPr/>
          <p:nvPr/>
        </p:nvSpPr>
        <p:spPr>
          <a:xfrm>
            <a:off x="411480" y="1325880"/>
            <a:ext cx="1828800" cy="1828800"/>
          </a:xfrm>
          <a:prstGeom prst="chevron">
            <a:avLst>
              <a:gd name="adj" fmla="val 28000"/>
            </a:avLst>
          </a:prstGeom>
          <a:solidFill>
            <a:srgbClr val="0D2155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endParaRPr lang="en-US"/>
          </a:p>
        </p:txBody>
      </p:sp>
      <p:sp>
        <p:nvSpPr>
          <p:cNvPr id="4" name="stage0_lbl"/>
          <p:cNvSpPr txBox="1"/>
          <p:nvPr/>
        </p:nvSpPr>
        <p:spPr>
          <a:xfrm>
            <a:off x="769925" y="1874520"/>
            <a:ext cx="126553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Arial Nova Light"/>
              </a:rPr>
              <a:t>Constitution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C9D7E8"/>
                </a:solidFill>
                <a:latin typeface="Arial Nova Light"/>
              </a:rPr>
              <a:t>the rules</a:t>
            </a:r>
          </a:p>
        </p:txBody>
      </p:sp>
      <p:sp>
        <p:nvSpPr>
          <p:cNvPr id="5" name="stage1"/>
          <p:cNvSpPr/>
          <p:nvPr/>
        </p:nvSpPr>
        <p:spPr>
          <a:xfrm>
            <a:off x="2318918" y="1417320"/>
            <a:ext cx="1828800" cy="1645920"/>
          </a:xfrm>
          <a:prstGeom prst="chevron">
            <a:avLst>
              <a:gd name="adj" fmla="val 28000"/>
            </a:avLst>
          </a:prstGeom>
          <a:solidFill>
            <a:srgbClr val="00468B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endParaRPr lang="en-US"/>
          </a:p>
        </p:txBody>
      </p:sp>
      <p:sp>
        <p:nvSpPr>
          <p:cNvPr id="6" name="stage1_lbl"/>
          <p:cNvSpPr txBox="1"/>
          <p:nvPr/>
        </p:nvSpPr>
        <p:spPr>
          <a:xfrm>
            <a:off x="2641519" y="1874520"/>
            <a:ext cx="1321857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Arial Nova Light"/>
              </a:rPr>
              <a:t>Spec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C9D7E8"/>
                </a:solidFill>
                <a:latin typeface="Arial Nova Light"/>
              </a:rPr>
              <a:t>what &amp; why</a:t>
            </a:r>
          </a:p>
        </p:txBody>
      </p:sp>
      <p:sp>
        <p:nvSpPr>
          <p:cNvPr id="7" name="stage2"/>
          <p:cNvSpPr/>
          <p:nvPr/>
        </p:nvSpPr>
        <p:spPr>
          <a:xfrm>
            <a:off x="4226357" y="1508760"/>
            <a:ext cx="1828800" cy="1463040"/>
          </a:xfrm>
          <a:prstGeom prst="chevron">
            <a:avLst>
              <a:gd name="adj" fmla="val 28000"/>
            </a:avLst>
          </a:prstGeom>
          <a:solidFill>
            <a:srgbClr val="0672CB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endParaRPr lang="en-US"/>
          </a:p>
        </p:txBody>
      </p:sp>
      <p:sp>
        <p:nvSpPr>
          <p:cNvPr id="8" name="stage2_lbl"/>
          <p:cNvSpPr txBox="1"/>
          <p:nvPr/>
        </p:nvSpPr>
        <p:spPr>
          <a:xfrm>
            <a:off x="4513113" y="1874520"/>
            <a:ext cx="1378184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Arial Nova Light"/>
              </a:rPr>
              <a:t>Plan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C9D7E8"/>
                </a:solidFill>
                <a:latin typeface="Arial Nova Light"/>
              </a:rPr>
              <a:t>how</a:t>
            </a:r>
          </a:p>
        </p:txBody>
      </p:sp>
      <p:sp>
        <p:nvSpPr>
          <p:cNvPr id="9" name="stage3"/>
          <p:cNvSpPr/>
          <p:nvPr/>
        </p:nvSpPr>
        <p:spPr>
          <a:xfrm>
            <a:off x="6133795" y="1600200"/>
            <a:ext cx="1828800" cy="1280160"/>
          </a:xfrm>
          <a:prstGeom prst="chevron">
            <a:avLst>
              <a:gd name="adj" fmla="val 28000"/>
            </a:avLst>
          </a:prstGeom>
          <a:solidFill>
            <a:srgbClr val="0B7C84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endParaRPr lang="en-US"/>
          </a:p>
        </p:txBody>
      </p:sp>
      <p:sp>
        <p:nvSpPr>
          <p:cNvPr id="10" name="stage3_lbl"/>
          <p:cNvSpPr txBox="1"/>
          <p:nvPr/>
        </p:nvSpPr>
        <p:spPr>
          <a:xfrm>
            <a:off x="6384707" y="1874520"/>
            <a:ext cx="1434511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Arial Nova Light"/>
              </a:rPr>
              <a:t>Tasks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C9D7E8"/>
                </a:solidFill>
                <a:latin typeface="Arial Nova Light"/>
              </a:rPr>
              <a:t>steps + test plan</a:t>
            </a:r>
          </a:p>
        </p:txBody>
      </p:sp>
      <p:sp>
        <p:nvSpPr>
          <p:cNvPr id="12" name="stage4"/>
          <p:cNvSpPr/>
          <p:nvPr/>
        </p:nvSpPr>
        <p:spPr>
          <a:xfrm>
            <a:off x="8041234" y="1691640"/>
            <a:ext cx="1828800" cy="1097280"/>
          </a:xfrm>
          <a:prstGeom prst="chevron">
            <a:avLst>
              <a:gd name="adj" fmla="val 28000"/>
            </a:avLst>
          </a:prstGeom>
          <a:solidFill>
            <a:srgbClr val="044E52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endParaRPr lang="en-US"/>
          </a:p>
        </p:txBody>
      </p:sp>
      <p:sp>
        <p:nvSpPr>
          <p:cNvPr id="13" name="stage4_lbl"/>
          <p:cNvSpPr txBox="1"/>
          <p:nvPr/>
        </p:nvSpPr>
        <p:spPr>
          <a:xfrm>
            <a:off x="8256300" y="1874520"/>
            <a:ext cx="149083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Arial Nova Light"/>
              </a:rPr>
              <a:t>Code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C9D7E8"/>
                </a:solidFill>
                <a:latin typeface="Arial Nova Light"/>
              </a:rPr>
              <a:t>the blueprint</a:t>
            </a:r>
          </a:p>
        </p:txBody>
      </p:sp>
      <p:sp>
        <p:nvSpPr>
          <p:cNvPr id="14" name="stage5"/>
          <p:cNvSpPr/>
          <p:nvPr/>
        </p:nvSpPr>
        <p:spPr>
          <a:xfrm>
            <a:off x="9948672" y="1325880"/>
            <a:ext cx="1828800" cy="1828800"/>
          </a:xfrm>
          <a:prstGeom prst="chevron">
            <a:avLst>
              <a:gd name="adj" fmla="val 28000"/>
            </a:avLst>
          </a:prstGeom>
          <a:solidFill>
            <a:srgbClr val="023A3D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endParaRPr lang="en-US"/>
          </a:p>
        </p:txBody>
      </p:sp>
      <p:sp>
        <p:nvSpPr>
          <p:cNvPr id="15" name="stage5_lbl"/>
          <p:cNvSpPr txBox="1"/>
          <p:nvPr/>
        </p:nvSpPr>
        <p:spPr>
          <a:xfrm>
            <a:off x="10230307" y="1874520"/>
            <a:ext cx="1547165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Arial Nova Light"/>
              </a:rPr>
              <a:t>Test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C9D7E8"/>
                </a:solidFill>
                <a:latin typeface="Arial Nova Light"/>
              </a:rPr>
              <a:t>run the test plan</a:t>
            </a:r>
          </a:p>
        </p:txBody>
      </p:sp>
      <p:cxnSp>
        <p:nvCxnSpPr>
          <p:cNvPr id="17" name="loop_down"/>
          <p:cNvCxnSpPr>
            <a:cxnSpLocks/>
            <a:stCxn id="12" idx="2"/>
          </p:cNvCxnSpPr>
          <p:nvPr/>
        </p:nvCxnSpPr>
        <p:spPr>
          <a:xfrm>
            <a:off x="8802015" y="2788920"/>
            <a:ext cx="0" cy="589788"/>
          </a:xfrm>
          <a:prstGeom prst="line">
            <a:avLst/>
          </a:prstGeom>
          <a:ln w="28575" cap="rnd">
            <a:solidFill>
              <a:srgbClr val="0672CB"/>
            </a:solidFill>
            <a:round/>
          </a:ln>
        </p:spPr>
      </p:cxnSp>
      <p:cxnSp>
        <p:nvCxnSpPr>
          <p:cNvPr id="18" name="loop_across"/>
          <p:cNvCxnSpPr>
            <a:cxnSpLocks/>
          </p:cNvCxnSpPr>
          <p:nvPr/>
        </p:nvCxnSpPr>
        <p:spPr>
          <a:xfrm flipH="1">
            <a:off x="3302446" y="3401060"/>
            <a:ext cx="5499569" cy="27940"/>
          </a:xfrm>
          <a:prstGeom prst="line">
            <a:avLst/>
          </a:prstGeom>
          <a:ln w="28575" cap="rnd">
            <a:solidFill>
              <a:srgbClr val="0672CB"/>
            </a:solidFill>
            <a:round/>
          </a:ln>
        </p:spPr>
      </p:cxnSp>
      <p:cxnSp>
        <p:nvCxnSpPr>
          <p:cNvPr id="19" name="loop_up"/>
          <p:cNvCxnSpPr/>
          <p:nvPr/>
        </p:nvCxnSpPr>
        <p:spPr>
          <a:xfrm flipV="1">
            <a:off x="3302447" y="3099816"/>
            <a:ext cx="0" cy="329184"/>
          </a:xfrm>
          <a:prstGeom prst="line">
            <a:avLst/>
          </a:prstGeom>
          <a:ln w="28575" cap="rnd">
            <a:solidFill>
              <a:srgbClr val="0672CB"/>
            </a:solidFill>
            <a:round/>
            <a:tailEnd type="triangle" w="med" len="med"/>
          </a:ln>
        </p:spPr>
      </p:cxnSp>
      <p:cxnSp>
        <p:nvCxnSpPr>
          <p:cNvPr id="28" name="fix_down"/>
          <p:cNvCxnSpPr>
            <a:cxnSpLocks/>
            <a:stCxn id="12" idx="2"/>
          </p:cNvCxnSpPr>
          <p:nvPr/>
        </p:nvCxnSpPr>
        <p:spPr>
          <a:xfrm>
            <a:off x="10901476" y="3154680"/>
            <a:ext cx="0" cy="320040"/>
          </a:xfrm>
          <a:prstGeom prst="line">
            <a:avLst/>
          </a:prstGeom>
          <a:ln w="28575" cap="flat">
            <a:solidFill>
              <a:srgbClr val="0672CB"/>
            </a:solidFill>
            <a:prstDash val="sysDash"/>
            <a:round/>
          </a:ln>
        </p:spPr>
      </p:cxnSp>
      <p:cxnSp>
        <p:nvCxnSpPr>
          <p:cNvPr id="29" name="fix_across"/>
          <p:cNvCxnSpPr>
            <a:cxnSpLocks/>
          </p:cNvCxnSpPr>
          <p:nvPr/>
        </p:nvCxnSpPr>
        <p:spPr>
          <a:xfrm flipH="1">
            <a:off x="9321394" y="3474720"/>
            <a:ext cx="1580082" cy="0"/>
          </a:xfrm>
          <a:prstGeom prst="line">
            <a:avLst/>
          </a:prstGeom>
          <a:ln w="28575" cap="flat">
            <a:solidFill>
              <a:srgbClr val="0672CB"/>
            </a:solidFill>
            <a:prstDash val="sysDash"/>
            <a:round/>
          </a:ln>
        </p:spPr>
      </p:cxnSp>
      <p:cxnSp>
        <p:nvCxnSpPr>
          <p:cNvPr id="30" name="fix_up"/>
          <p:cNvCxnSpPr/>
          <p:nvPr/>
        </p:nvCxnSpPr>
        <p:spPr>
          <a:xfrm flipV="1">
            <a:off x="9321394" y="2825496"/>
            <a:ext cx="0" cy="649224"/>
          </a:xfrm>
          <a:prstGeom prst="line">
            <a:avLst/>
          </a:prstGeom>
          <a:ln w="28575" cap="flat">
            <a:solidFill>
              <a:srgbClr val="0672CB"/>
            </a:solidFill>
            <a:prstDash val="sysDash"/>
            <a:round/>
            <a:tailEnd type="triangle" w="med" len="med"/>
          </a:ln>
        </p:spPr>
      </p:cxnSp>
      <p:sp>
        <p:nvSpPr>
          <p:cNvPr id="20" name="loop_label"/>
          <p:cNvSpPr/>
          <p:nvPr/>
        </p:nvSpPr>
        <p:spPr>
          <a:xfrm>
            <a:off x="3707110" y="3200400"/>
            <a:ext cx="4853369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36576" rIns="36576" bIns="36576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0672CB"/>
                </a:solidFill>
                <a:latin typeface="Arial Nova Light"/>
              </a:rPr>
              <a:t>Blueprint final?  Reverse-engineer it back into the spec</a:t>
            </a:r>
          </a:p>
        </p:txBody>
      </p:sp>
      <p:sp>
        <p:nvSpPr>
          <p:cNvPr id="31" name="fix_label"/>
          <p:cNvSpPr/>
          <p:nvPr/>
        </p:nvSpPr>
        <p:spPr>
          <a:xfrm>
            <a:off x="9412834" y="3172968"/>
            <a:ext cx="139720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36576" rIns="36576" bIns="36576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0672CB"/>
                </a:solidFill>
                <a:latin typeface="Arial Nova Light"/>
              </a:rPr>
              <a:t>fail? fix &amp; retest</a:t>
            </a:r>
          </a:p>
        </p:txBody>
      </p:sp>
      <p:sp>
        <p:nvSpPr>
          <p:cNvPr id="21" name="card0"/>
          <p:cNvSpPr/>
          <p:nvPr/>
        </p:nvSpPr>
        <p:spPr>
          <a:xfrm>
            <a:off x="411480" y="3767328"/>
            <a:ext cx="5500116" cy="1645920"/>
          </a:xfrm>
          <a:prstGeom prst="roundRect">
            <a:avLst>
              <a:gd name="adj" fmla="val 7000"/>
            </a:avLst>
          </a:prstGeom>
          <a:solidFill>
            <a:srgbClr val="EEF3F9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endParaRPr lang="en-US"/>
          </a:p>
        </p:txBody>
      </p:sp>
      <p:sp>
        <p:nvSpPr>
          <p:cNvPr id="22" name="card0_num"/>
          <p:cNvSpPr/>
          <p:nvPr/>
        </p:nvSpPr>
        <p:spPr>
          <a:xfrm>
            <a:off x="685800" y="3995928"/>
            <a:ext cx="457200" cy="457200"/>
          </a:xfrm>
          <a:prstGeom prst="ellipse">
            <a:avLst/>
          </a:prstGeom>
          <a:solidFill>
            <a:srgbClr val="0D215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 Nova Light"/>
              </a:rPr>
              <a:t>1</a:t>
            </a:r>
          </a:p>
        </p:txBody>
      </p:sp>
      <p:sp>
        <p:nvSpPr>
          <p:cNvPr id="23" name="card0_text"/>
          <p:cNvSpPr txBox="1"/>
          <p:nvPr/>
        </p:nvSpPr>
        <p:spPr>
          <a:xfrm>
            <a:off x="1325880" y="3904488"/>
            <a:ext cx="4357116" cy="137160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800" b="1" i="0" dirty="0">
                <a:solidFill>
                  <a:srgbClr val="0D2155"/>
                </a:solidFill>
                <a:latin typeface="Arial Nova Light"/>
              </a:rPr>
              <a:t>Plan the tests with the tasks</a:t>
            </a:r>
          </a:p>
          <a:p>
            <a:pPr algn="l">
              <a:spcAft>
                <a:spcPts val="500"/>
              </a:spcAft>
              <a:buNone/>
            </a:pPr>
            <a:r>
              <a:rPr lang="en-US" sz="1300" b="0" i="0" dirty="0">
                <a:solidFill>
                  <a:srgbClr val="5A6475"/>
                </a:solidFill>
                <a:latin typeface="Arial Nova Light"/>
              </a:rPr>
              <a:t>/speckit.tasks writes a test plan alongside the steps - every acceptance criterion in the spec becomes a test case.</a:t>
            </a:r>
          </a:p>
          <a:p>
            <a:pPr algn="l"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0D2155"/>
                </a:solidFill>
                <a:latin typeface="Arial Nova Light"/>
              </a:rPr>
              <a:t>After /speckit.implement, run the test plan. Done means the tests pass, not that the YAML exists.</a:t>
            </a:r>
          </a:p>
        </p:txBody>
      </p:sp>
      <p:sp>
        <p:nvSpPr>
          <p:cNvPr id="24" name="card1"/>
          <p:cNvSpPr/>
          <p:nvPr/>
        </p:nvSpPr>
        <p:spPr>
          <a:xfrm>
            <a:off x="6277356" y="3767328"/>
            <a:ext cx="5500116" cy="1645920"/>
          </a:xfrm>
          <a:prstGeom prst="roundRect">
            <a:avLst>
              <a:gd name="adj" fmla="val 7000"/>
            </a:avLst>
          </a:prstGeom>
          <a:solidFill>
            <a:srgbClr val="EEF3F9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endParaRPr lang="en-US"/>
          </a:p>
        </p:txBody>
      </p:sp>
      <p:sp>
        <p:nvSpPr>
          <p:cNvPr id="25" name="card1_num"/>
          <p:cNvSpPr/>
          <p:nvPr/>
        </p:nvSpPr>
        <p:spPr>
          <a:xfrm>
            <a:off x="6551676" y="3995928"/>
            <a:ext cx="457200" cy="457200"/>
          </a:xfrm>
          <a:prstGeom prst="ellipse">
            <a:avLst/>
          </a:prstGeom>
          <a:solidFill>
            <a:srgbClr val="0D215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 Nova Light"/>
              </a:rPr>
              <a:t>2</a:t>
            </a:r>
          </a:p>
        </p:txBody>
      </p:sp>
      <p:sp>
        <p:nvSpPr>
          <p:cNvPr id="26" name="card1_text"/>
          <p:cNvSpPr txBox="1"/>
          <p:nvPr/>
        </p:nvSpPr>
        <p:spPr>
          <a:xfrm>
            <a:off x="7191756" y="3904488"/>
            <a:ext cx="4357116" cy="137160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800" b="1" i="0" dirty="0">
                <a:solidFill>
                  <a:srgbClr val="0D2155"/>
                </a:solidFill>
                <a:latin typeface="Arial Nova Light"/>
              </a:rPr>
              <a:t>Write the final blueprint back</a:t>
            </a:r>
          </a:p>
          <a:p>
            <a:pPr algn="l">
              <a:spcAft>
                <a:spcPts val="500"/>
              </a:spcAft>
              <a:buNone/>
            </a:pPr>
            <a:r>
              <a:rPr lang="en-US" sz="1300" b="0" i="0" dirty="0">
                <a:solidFill>
                  <a:srgbClr val="5A6475"/>
                </a:solidFill>
                <a:latin typeface="Arial Nova Light"/>
              </a:rPr>
              <a:t>Builds drift: fixes, edge cases, and decisions made during testing never reach the spec on their own.</a:t>
            </a:r>
          </a:p>
          <a:p>
            <a:pPr algn="l"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0D2155"/>
                </a:solidFill>
                <a:latin typeface="Arial Nova Light"/>
              </a:rPr>
              <a:t>Once the blueprint is final, reverse-engineer it into the spec so the next change starts from what actually shipped.</a:t>
            </a:r>
          </a:p>
        </p:txBody>
      </p:sp>
      <p:sp>
        <p:nvSpPr>
          <p:cNvPr id="16" name="anim05_caption">
            <a:extLst>
              <a:ext uri="{FF2B5EF4-FFF2-40B4-BE49-F238E27FC236}">
                <a16:creationId xmlns:a16="http://schemas.microsoft.com/office/drawing/2014/main" id="{26BD64D8-9B11-E0BC-F02B-40E229BA9B31}"/>
              </a:ext>
            </a:extLst>
          </p:cNvPr>
          <p:cNvSpPr txBox="1"/>
          <p:nvPr/>
        </p:nvSpPr>
        <p:spPr>
          <a:xfrm>
            <a:off x="647394" y="5577840"/>
            <a:ext cx="10972800" cy="65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1" dirty="0">
                <a:solidFill>
                  <a:srgbClr val="0D2155"/>
                </a:solidFill>
                <a:latin typeface="Arial Nova Light"/>
              </a:rPr>
              <a:t>Ambiguity gets squeezed out before it reaches the code.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0" dirty="0">
                <a:solidFill>
                  <a:srgbClr val="4A5563"/>
                </a:solidFill>
                <a:latin typeface="Arial Nova Light"/>
              </a:rPr>
              <a:t>Every artifact is a markdown file in your repo </a:t>
            </a:r>
            <a:r>
              <a:rPr lang="en-GB" sz="1300" b="0" dirty="0">
                <a:solidFill>
                  <a:srgbClr val="4A5563"/>
                </a:solidFill>
                <a:latin typeface="Arial Nova Light"/>
              </a:rPr>
              <a:t>-</a:t>
            </a:r>
            <a:r>
              <a:rPr sz="1300" b="0" dirty="0">
                <a:solidFill>
                  <a:srgbClr val="4A5563"/>
                </a:solidFill>
                <a:latin typeface="Arial Nova Light"/>
              </a:rPr>
              <a:t> reviewed, versioned, and read by the AI at the next step.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actually get out of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66160" cy="3291840"/>
          </a:xfrm>
          <a:prstGeom prst="roundRect">
            <a:avLst>
              <a:gd name="adj" fmla="val 55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 b="1">
                <a:solidFill>
                  <a:srgbClr val="0D2155"/>
                </a:solidFill>
                <a:latin typeface="Arial Nov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 Nova Light"/>
              </a:rPr>
              <a:t>Intent, captured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118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dirty="0">
                <a:solidFill>
                  <a:srgbClr val="C9D7E8"/>
                </a:solidFill>
                <a:latin typeface="Arial Nova Light"/>
              </a:rPr>
              <a:t>The “why” lives in the repo,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dirty="0">
                <a:solidFill>
                  <a:srgbClr val="C9D7E8"/>
                </a:solidFill>
                <a:latin typeface="Arial Nova Light"/>
              </a:rPr>
              <a:t>not in a chat history.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3566160" cy="3291840"/>
          </a:xfrm>
          <a:prstGeom prst="roundRect">
            <a:avLst>
              <a:gd name="adj" fmla="val 5500"/>
            </a:avLst>
          </a:prstGeom>
          <a:solidFill>
            <a:srgbClr val="004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663440" y="20574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 b="1">
                <a:solidFill>
                  <a:srgbClr val="00468B"/>
                </a:solidFill>
                <a:latin typeface="Arial Nov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971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 Nova Light"/>
              </a:rPr>
              <a:t>Decisions, traceable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6118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C9D7E8"/>
                </a:solidFill>
                <a:latin typeface="Arial Nova Light"/>
              </a:rPr>
              <a:t>Every line of code points back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C9D7E8"/>
                </a:solidFill>
                <a:latin typeface="Arial Nova Light"/>
              </a:rPr>
              <a:t>to a requirement.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737360"/>
            <a:ext cx="3566160" cy="3291840"/>
          </a:xfrm>
          <a:prstGeom prst="roundRect">
            <a:avLst>
              <a:gd name="adj" fmla="val 5500"/>
            </a:avLst>
          </a:prstGeom>
          <a:solidFill>
            <a:srgbClr val="0B7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458200" y="20574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 b="1">
                <a:solidFill>
                  <a:srgbClr val="0B7C84"/>
                </a:solidFill>
                <a:latin typeface="Arial Nov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971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 Nova Light"/>
              </a:rPr>
              <a:t>Verification, built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6118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C9D7E8"/>
                </a:solidFill>
                <a:latin typeface="Arial Nova Light"/>
              </a:rPr>
              <a:t>Acceptance criteria exist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C9D7E8"/>
                </a:solidFill>
                <a:latin typeface="Arial Nova Light"/>
              </a:rPr>
              <a:t>before the code does.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First, a 60-second primer: what's a DAP blueprint?</a:t>
            </a:r>
          </a:p>
        </p:txBody>
      </p:sp>
      <p:sp>
        <p:nvSpPr>
          <p:cNvPr id="3" name="Folded Corner 2"/>
          <p:cNvSpPr/>
          <p:nvPr/>
        </p:nvSpPr>
        <p:spPr>
          <a:xfrm>
            <a:off x="731520" y="2103120"/>
            <a:ext cx="2103120" cy="2651760"/>
          </a:xfrm>
          <a:prstGeom prst="foldedCorner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0D2155"/>
                </a:solidFill>
                <a:latin typeface="Consolas"/>
              </a:rPr>
              <a:t>blueprint</a:t>
            </a:r>
          </a:p>
          <a:p>
            <a:pPr algn="ctr"/>
            <a:r>
              <a:rPr sz="1500" b="1">
                <a:solidFill>
                  <a:srgbClr val="0D2155"/>
                </a:solidFill>
                <a:latin typeface="Consolas"/>
              </a:rPr>
              <a:t>.yaml</a:t>
            </a:r>
          </a:p>
          <a:p>
            <a:pPr algn="ctr">
              <a:defRPr sz="800" b="0">
                <a:solidFill>
                  <a:srgbClr val="FFFFFF"/>
                </a:solidFill>
                <a:latin typeface="Arial Nova"/>
              </a:defRPr>
            </a:pPr>
            <a:endParaRPr sz="1500" b="1">
              <a:solidFill>
                <a:srgbClr val="0D2155"/>
              </a:solidFill>
              <a:latin typeface="Consolas"/>
            </a:endParaRPr>
          </a:p>
          <a:p>
            <a:pPr algn="ctr"/>
            <a:r>
              <a:rPr sz="1100" b="0">
                <a:solidFill>
                  <a:srgbClr val="00468B"/>
                </a:solidFill>
                <a:latin typeface="Consolas"/>
              </a:rPr>
              <a:t>inputs</a:t>
            </a:r>
          </a:p>
          <a:p>
            <a:pPr algn="ctr"/>
            <a:r>
              <a:rPr sz="1100" b="0">
                <a:solidFill>
                  <a:srgbClr val="00468B"/>
                </a:solidFill>
                <a:latin typeface="Consolas"/>
              </a:rPr>
              <a:t>node types</a:t>
            </a:r>
          </a:p>
          <a:p>
            <a:pPr algn="ctr"/>
            <a:r>
              <a:rPr sz="1100" b="0">
                <a:solidFill>
                  <a:srgbClr val="00468B"/>
                </a:solidFill>
                <a:latin typeface="Consolas"/>
              </a:rPr>
              <a:t>relationships</a:t>
            </a:r>
          </a:p>
          <a:p>
            <a:pPr algn="ctr"/>
            <a:r>
              <a:rPr sz="1100" b="0">
                <a:solidFill>
                  <a:srgbClr val="00468B"/>
                </a:solidFill>
                <a:latin typeface="Consolas"/>
              </a:rPr>
              <a:t>workflows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108960" y="3200400"/>
            <a:ext cx="502920" cy="640080"/>
          </a:xfrm>
          <a:prstGeom prst="rightArrow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931920" y="2286000"/>
            <a:ext cx="3108960" cy="2286000"/>
          </a:xfrm>
          <a:prstGeom prst="roundRect">
            <a:avLst>
              <a:gd name="adj" fmla="val 55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0" y="27432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 Nova Light"/>
              </a:rPr>
              <a:t>DAP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 Nova Light"/>
              </a:rPr>
              <a:t>Orchestrator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C9D7E8"/>
                </a:solidFill>
                <a:latin typeface="Arial Nova Light"/>
              </a:rPr>
              <a:t>makes reality match the YAML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315200" y="3200400"/>
            <a:ext cx="502920" cy="640080"/>
          </a:xfrm>
          <a:prstGeom prst="rightArrow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138160" y="1508760"/>
            <a:ext cx="3474720" cy="91440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66760" y="1627631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 Nova Light"/>
              </a:rPr>
              <a:t>Bare metal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C9D7E8"/>
                </a:solidFill>
                <a:latin typeface="Arial Nova Light"/>
              </a:rPr>
              <a:t>PowerEdge, iDRAC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587752"/>
            <a:ext cx="3474720" cy="91440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2706624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 Nova Light"/>
              </a:rPr>
              <a:t>Virtual machines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C9D7E8"/>
                </a:solidFill>
                <a:latin typeface="Arial Nova Light"/>
              </a:rPr>
              <a:t>vCenter, KVM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666744"/>
            <a:ext cx="3474720" cy="91440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3785615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 Nova Light"/>
              </a:rPr>
              <a:t>Kubernetes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C9D7E8"/>
                </a:solidFill>
                <a:latin typeface="Arial Nova Light"/>
              </a:rPr>
              <a:t>clusters &amp; apps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745736"/>
            <a:ext cx="3474720" cy="91440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4864607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 Nova Light"/>
              </a:rPr>
              <a:t>Storage &amp; network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C9D7E8"/>
                </a:solidFill>
                <a:latin typeface="Arial Nova Light"/>
              </a:rPr>
              <a:t>PowerStore, VLANs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72800" cy="329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0" dirty="0">
                <a:solidFill>
                  <a:srgbClr val="4A5563"/>
                </a:solidFill>
                <a:latin typeface="Arial Nova Light"/>
              </a:rPr>
              <a:t>Declarative: you describe the end state </a:t>
            </a:r>
            <a:r>
              <a:rPr lang="en-GB" sz="1500" b="0" dirty="0">
                <a:solidFill>
                  <a:srgbClr val="4A5563"/>
                </a:solidFill>
                <a:latin typeface="Arial Nova Light"/>
              </a:rPr>
              <a:t>-</a:t>
            </a:r>
            <a:r>
              <a:rPr sz="1500" b="0" dirty="0">
                <a:solidFill>
                  <a:srgbClr val="4A5563"/>
                </a:solidFill>
                <a:latin typeface="Arial Nova Light"/>
              </a:rPr>
              <a:t> the platform does the work, in the right order, with rollback.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You already think this way </a:t>
            </a:r>
            <a:r>
              <a:rPr lang="en-GB" dirty="0"/>
              <a:t>-</a:t>
            </a:r>
            <a:r>
              <a:rPr dirty="0"/>
              <a:t> a blueprint is a spec for infrastructure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651760" cy="1188720"/>
          </a:xfrm>
          <a:prstGeom prst="roundRect">
            <a:avLst>
              <a:gd name="adj" fmla="val 55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17627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 Nova Light"/>
              </a:rPr>
              <a:t>A blueprint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566160" y="2194560"/>
            <a:ext cx="457200" cy="457200"/>
          </a:xfrm>
          <a:prstGeom prst="rightArrow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56432" y="178308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4A5563"/>
                </a:solidFill>
                <a:latin typeface="Arial Nova Light"/>
              </a:rPr>
              <a:t>describes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108960" cy="118872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34840" y="217627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Arial Nova Light"/>
              </a:rPr>
              <a:t>your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10312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1D2C3B"/>
                </a:solidFill>
                <a:latin typeface="Arial Nova Light"/>
              </a:rPr>
              <a:t>…and the DAP Orchestrator builds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2651760" cy="1188720"/>
          </a:xfrm>
          <a:prstGeom prst="roundRect">
            <a:avLst>
              <a:gd name="adj" fmla="val 5500"/>
            </a:avLst>
          </a:prstGeom>
          <a:solidFill>
            <a:srgbClr val="0B7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27939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 Nova Light"/>
              </a:rPr>
              <a:t>A spec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566160" y="4297680"/>
            <a:ext cx="457200" cy="457200"/>
          </a:xfrm>
          <a:prstGeom prst="rightArrow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56432" y="388620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4A5563"/>
                </a:solidFill>
                <a:latin typeface="Arial Nova Light"/>
              </a:rPr>
              <a:t>describes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931920"/>
            <a:ext cx="3108960" cy="118872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427939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Arial Nova Light"/>
              </a:rPr>
              <a:t>your blueprint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20624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1D2C3B"/>
                </a:solidFill>
                <a:latin typeface="Arial Nova Light"/>
              </a:rPr>
              <a:t>…and the AI agent builds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00" b="1" dirty="0">
                <a:solidFill>
                  <a:srgbClr val="0D2155"/>
                </a:solidFill>
                <a:latin typeface="Arial Nova Light"/>
              </a:rPr>
              <a:t>Spec-driven development is the blueprint idea, applied one level 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Spec Kit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760720" cy="4206240"/>
          </a:xfrm>
          <a:prstGeom prst="roundRect">
            <a:avLst>
              <a:gd name="adj" fmla="val 55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5257800" cy="3124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800" b="1" dirty="0">
                <a:solidFill>
                  <a:srgbClr val="FFFFFF"/>
                </a:solidFill>
                <a:latin typeface="Arial Nova Light"/>
              </a:rPr>
              <a:t>What it is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0" dirty="0">
                <a:solidFill>
                  <a:srgbClr val="FFFFFF"/>
                </a:solidFill>
                <a:latin typeface="Arial Nova Light"/>
              </a:rPr>
              <a:t>•  Open source, from GitHub</a:t>
            </a:r>
            <a:br>
              <a:rPr lang="en-GB" sz="1600" dirty="0">
                <a:solidFill>
                  <a:srgbClr val="FFFFFF"/>
                </a:solidFill>
                <a:latin typeface="Arial Nova Light"/>
              </a:rPr>
            </a:br>
            <a:endParaRPr sz="1600" b="0" dirty="0">
              <a:solidFill>
                <a:srgbClr val="FFFFFF"/>
              </a:solidFill>
              <a:latin typeface="Arial Nova Light"/>
            </a:endParaRP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0" dirty="0">
                <a:solidFill>
                  <a:srgbClr val="FFFFFF"/>
                </a:solidFill>
                <a:latin typeface="Arial Nova Light"/>
              </a:rPr>
              <a:t>•  Lives inside your AI agent as /speckit.* slash commands</a:t>
            </a:r>
            <a:br>
              <a:rPr lang="en-GB" sz="1600" b="0" dirty="0">
                <a:solidFill>
                  <a:srgbClr val="FFFFFF"/>
                </a:solidFill>
                <a:latin typeface="Arial Nova Light"/>
              </a:rPr>
            </a:br>
            <a:endParaRPr sz="1600" b="0" dirty="0">
              <a:solidFill>
                <a:srgbClr val="FFFFFF"/>
              </a:solidFill>
              <a:latin typeface="Arial Nova Light"/>
            </a:endParaRP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0" dirty="0">
                <a:solidFill>
                  <a:srgbClr val="FFFFFF"/>
                </a:solidFill>
                <a:latin typeface="Arial Nova Light"/>
              </a:rPr>
              <a:t>•  Just markdown templates and scripts </a:t>
            </a:r>
            <a:r>
              <a:rPr lang="en-GB" sz="1600" b="0" dirty="0">
                <a:solidFill>
                  <a:srgbClr val="FFFFFF"/>
                </a:solidFill>
                <a:latin typeface="Arial Nova Light"/>
              </a:rPr>
              <a:t>-</a:t>
            </a:r>
            <a:r>
              <a:rPr sz="1600" b="0" dirty="0">
                <a:solidFill>
                  <a:srgbClr val="FFFFFF"/>
                </a:solidFill>
                <a:latin typeface="Arial Nova Light"/>
              </a:rPr>
              <a:t> nothing to </a:t>
            </a:r>
            <a:r>
              <a:rPr lang="en-GB" sz="1600" b="0" dirty="0">
                <a:solidFill>
                  <a:srgbClr val="FFFFFF"/>
                </a:solidFill>
                <a:latin typeface="Arial Nova Light"/>
              </a:rPr>
              <a:t>   </a:t>
            </a:r>
            <a:br>
              <a:rPr lang="en-GB" sz="1600" b="0" dirty="0">
                <a:solidFill>
                  <a:srgbClr val="FFFFFF"/>
                </a:solidFill>
                <a:latin typeface="Arial Nova Light"/>
              </a:rPr>
            </a:br>
            <a:r>
              <a:rPr lang="en-GB" sz="1600" b="0" dirty="0">
                <a:solidFill>
                  <a:srgbClr val="FFFFFF"/>
                </a:solidFill>
                <a:latin typeface="Arial Nova Light"/>
              </a:rPr>
              <a:t>   </a:t>
            </a:r>
            <a:r>
              <a:rPr sz="1600" b="0" dirty="0">
                <a:solidFill>
                  <a:srgbClr val="FFFFFF"/>
                </a:solidFill>
                <a:latin typeface="Arial Nova Light"/>
              </a:rPr>
              <a:t>deploy, nothing to license</a:t>
            </a:r>
            <a:br>
              <a:rPr lang="en-GB" sz="1600" b="0" dirty="0">
                <a:solidFill>
                  <a:srgbClr val="FFFFFF"/>
                </a:solidFill>
                <a:latin typeface="Arial Nova Light"/>
              </a:rPr>
            </a:br>
            <a:endParaRPr sz="1600" b="0" dirty="0">
              <a:solidFill>
                <a:srgbClr val="FFFFFF"/>
              </a:solidFill>
              <a:latin typeface="Arial Nova Light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 dirty="0">
                <a:solidFill>
                  <a:srgbClr val="FFFFFF"/>
                </a:solidFill>
                <a:latin typeface="Arial Nova Light"/>
              </a:rPr>
              <a:t>•  Your specs live in the repo, versioned with the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1D2C3B"/>
                </a:solidFill>
                <a:latin typeface="Arial Nova Light"/>
              </a:rPr>
              <a:t>Works with the agent you already use: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28600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004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 Nova"/>
              </a:rPr>
              <a:t>Claude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20" y="228600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004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 Nova"/>
              </a:rPr>
              <a:t>GitHub Copilot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306324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004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 Nova"/>
              </a:rPr>
              <a:t>Gemini CLI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306324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004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 Nova"/>
              </a:rPr>
              <a:t>Cursor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384048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004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 Nova"/>
              </a:rPr>
              <a:t>Qwen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384048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004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 Nova"/>
              </a:rPr>
              <a:t>+ more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4754880"/>
            <a:ext cx="4937760" cy="137160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839712" y="4901184"/>
            <a:ext cx="118872" cy="118872"/>
          </a:xfrm>
          <a:prstGeom prst="ellipse">
            <a:avLst/>
          </a:prstGeom>
          <a:solidFill>
            <a:srgbClr val="E8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059168" y="4901184"/>
            <a:ext cx="118872" cy="118872"/>
          </a:xfrm>
          <a:prstGeom prst="ellipse">
            <a:avLst/>
          </a:prstGeom>
          <a:solidFill>
            <a:srgbClr val="E8C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278623" y="4901184"/>
            <a:ext cx="118872" cy="118872"/>
          </a:xfrm>
          <a:prstGeom prst="ellipse">
            <a:avLst/>
          </a:prstGeom>
          <a:solidFill>
            <a:srgbClr val="6F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0" y="48463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C9D7E8"/>
                </a:solidFill>
                <a:latin typeface="Consolas"/>
              </a:rPr>
              <a:t>one-time install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5230368"/>
            <a:ext cx="43891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F0F0F0"/>
                </a:solidFill>
                <a:latin typeface="Consolas"/>
              </a:rPr>
              <a:t>$ uv tool install specify-cli \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F0F0F0"/>
                </a:solidFill>
                <a:latin typeface="Consolas"/>
              </a:rPr>
              <a:t>    --from git+https://github.com/github/spec-kit.git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commands and a test run. Each step reads what the last one produced.</a:t>
            </a:r>
          </a:p>
        </p:txBody>
      </p:sp>
      <p:sp>
        <p:nvSpPr>
          <p:cNvPr id="3" name="anim00_step"/>
          <p:cNvSpPr/>
          <p:nvPr/>
        </p:nvSpPr>
        <p:spPr>
          <a:xfrm>
            <a:off x="384048" y="2286000"/>
            <a:ext cx="1737360" cy="1737360"/>
          </a:xfrm>
          <a:prstGeom prst="roundRect">
            <a:avLst>
              <a:gd name="adj" fmla="val 55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nim00_cmd"/>
          <p:cNvSpPr txBox="1"/>
          <p:nvPr/>
        </p:nvSpPr>
        <p:spPr>
          <a:xfrm>
            <a:off x="420623" y="2697480"/>
            <a:ext cx="16642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onsolas"/>
              </a:rPr>
              <a:t>/speckit.constitution</a:t>
            </a:r>
          </a:p>
        </p:txBody>
      </p:sp>
      <p:sp>
        <p:nvSpPr>
          <p:cNvPr id="5" name="anim00_sub"/>
          <p:cNvSpPr txBox="1"/>
          <p:nvPr/>
        </p:nvSpPr>
        <p:spPr>
          <a:xfrm>
            <a:off x="420623" y="3200400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C9D7E8"/>
                </a:solidFill>
                <a:latin typeface="Arial Nova Light"/>
              </a:rPr>
              <a:t>the rules</a:t>
            </a:r>
          </a:p>
        </p:txBody>
      </p:sp>
      <p:sp>
        <p:nvSpPr>
          <p:cNvPr id="6" name="anim01_arr"/>
          <p:cNvSpPr/>
          <p:nvPr/>
        </p:nvSpPr>
        <p:spPr>
          <a:xfrm>
            <a:off x="2130551" y="2926080"/>
            <a:ext cx="182880" cy="457200"/>
          </a:xfrm>
          <a:prstGeom prst="rightArrow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nim01_step"/>
          <p:cNvSpPr/>
          <p:nvPr/>
        </p:nvSpPr>
        <p:spPr>
          <a:xfrm>
            <a:off x="2322576" y="2286000"/>
            <a:ext cx="1737360" cy="1737360"/>
          </a:xfrm>
          <a:prstGeom prst="roundRect">
            <a:avLst>
              <a:gd name="adj" fmla="val 5500"/>
            </a:avLst>
          </a:prstGeom>
          <a:solidFill>
            <a:srgbClr val="004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nim01_cmd"/>
          <p:cNvSpPr txBox="1"/>
          <p:nvPr/>
        </p:nvSpPr>
        <p:spPr>
          <a:xfrm>
            <a:off x="2359152" y="2697480"/>
            <a:ext cx="16642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onsolas"/>
              </a:rPr>
              <a:t>/speckit.specify</a:t>
            </a:r>
          </a:p>
        </p:txBody>
      </p:sp>
      <p:sp>
        <p:nvSpPr>
          <p:cNvPr id="9" name="anim01_sub"/>
          <p:cNvSpPr txBox="1"/>
          <p:nvPr/>
        </p:nvSpPr>
        <p:spPr>
          <a:xfrm>
            <a:off x="2359152" y="3200400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C9D7E8"/>
                </a:solidFill>
                <a:latin typeface="Arial Nova Light"/>
              </a:rPr>
              <a:t>what &amp; why</a:t>
            </a:r>
          </a:p>
        </p:txBody>
      </p:sp>
      <p:sp>
        <p:nvSpPr>
          <p:cNvPr id="10" name="anim02_arr"/>
          <p:cNvSpPr/>
          <p:nvPr/>
        </p:nvSpPr>
        <p:spPr>
          <a:xfrm>
            <a:off x="4069080" y="2926080"/>
            <a:ext cx="182880" cy="457200"/>
          </a:xfrm>
          <a:prstGeom prst="rightArrow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nim02_step"/>
          <p:cNvSpPr/>
          <p:nvPr/>
        </p:nvSpPr>
        <p:spPr>
          <a:xfrm>
            <a:off x="4261104" y="2286000"/>
            <a:ext cx="1737360" cy="1737360"/>
          </a:xfrm>
          <a:prstGeom prst="roundRect">
            <a:avLst>
              <a:gd name="adj" fmla="val 5500"/>
            </a:avLst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nim02_cmd"/>
          <p:cNvSpPr txBox="1"/>
          <p:nvPr/>
        </p:nvSpPr>
        <p:spPr>
          <a:xfrm>
            <a:off x="4297680" y="2697480"/>
            <a:ext cx="16642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onsolas"/>
              </a:rPr>
              <a:t>/speckit.plan</a:t>
            </a:r>
          </a:p>
        </p:txBody>
      </p:sp>
      <p:sp>
        <p:nvSpPr>
          <p:cNvPr id="13" name="anim02_sub"/>
          <p:cNvSpPr txBox="1"/>
          <p:nvPr/>
        </p:nvSpPr>
        <p:spPr>
          <a:xfrm>
            <a:off x="4297680" y="3200400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C9D7E8"/>
                </a:solidFill>
                <a:latin typeface="Arial Nova Light"/>
              </a:rPr>
              <a:t>how</a:t>
            </a:r>
          </a:p>
        </p:txBody>
      </p:sp>
      <p:sp>
        <p:nvSpPr>
          <p:cNvPr id="14" name="anim03_arr"/>
          <p:cNvSpPr/>
          <p:nvPr/>
        </p:nvSpPr>
        <p:spPr>
          <a:xfrm>
            <a:off x="6007608" y="2926080"/>
            <a:ext cx="182880" cy="457200"/>
          </a:xfrm>
          <a:prstGeom prst="rightArrow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nim03_step"/>
          <p:cNvSpPr/>
          <p:nvPr/>
        </p:nvSpPr>
        <p:spPr>
          <a:xfrm>
            <a:off x="6199632" y="2286000"/>
            <a:ext cx="1737360" cy="1737360"/>
          </a:xfrm>
          <a:prstGeom prst="roundRect">
            <a:avLst>
              <a:gd name="adj" fmla="val 5500"/>
            </a:avLst>
          </a:prstGeom>
          <a:solidFill>
            <a:srgbClr val="0B7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nim03_cmd"/>
          <p:cNvSpPr txBox="1"/>
          <p:nvPr/>
        </p:nvSpPr>
        <p:spPr>
          <a:xfrm>
            <a:off x="6236208" y="2697480"/>
            <a:ext cx="16642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onsolas"/>
              </a:rPr>
              <a:t>/speckit.tasks</a:t>
            </a:r>
          </a:p>
        </p:txBody>
      </p:sp>
      <p:sp>
        <p:nvSpPr>
          <p:cNvPr id="17" name="anim03_sub"/>
          <p:cNvSpPr txBox="1"/>
          <p:nvPr/>
        </p:nvSpPr>
        <p:spPr>
          <a:xfrm>
            <a:off x="6236208" y="3200400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C9D7E8"/>
                </a:solidFill>
                <a:latin typeface="Arial Nova Light"/>
              </a:rPr>
              <a:t>steps + test plan</a:t>
            </a:r>
          </a:p>
        </p:txBody>
      </p:sp>
      <p:sp>
        <p:nvSpPr>
          <p:cNvPr id="18" name="anim04_arr"/>
          <p:cNvSpPr/>
          <p:nvPr/>
        </p:nvSpPr>
        <p:spPr>
          <a:xfrm>
            <a:off x="7946136" y="2926080"/>
            <a:ext cx="182880" cy="457200"/>
          </a:xfrm>
          <a:prstGeom prst="rightArrow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nim04_step"/>
          <p:cNvSpPr/>
          <p:nvPr/>
        </p:nvSpPr>
        <p:spPr>
          <a:xfrm>
            <a:off x="8138160" y="2286000"/>
            <a:ext cx="1737360" cy="1737360"/>
          </a:xfrm>
          <a:prstGeom prst="roundRect">
            <a:avLst>
              <a:gd name="adj" fmla="val 5500"/>
            </a:avLst>
          </a:prstGeom>
          <a:solidFill>
            <a:srgbClr val="0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nim04_cmd"/>
          <p:cNvSpPr txBox="1"/>
          <p:nvPr/>
        </p:nvSpPr>
        <p:spPr>
          <a:xfrm>
            <a:off x="8174736" y="2697480"/>
            <a:ext cx="16642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onsolas"/>
              </a:rPr>
              <a:t>/speckit.implement</a:t>
            </a:r>
          </a:p>
        </p:txBody>
      </p:sp>
      <p:sp>
        <p:nvSpPr>
          <p:cNvPr id="21" name="anim04_sub"/>
          <p:cNvSpPr txBox="1"/>
          <p:nvPr/>
        </p:nvSpPr>
        <p:spPr>
          <a:xfrm>
            <a:off x="8174736" y="3200400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C9D7E8"/>
                </a:solidFill>
                <a:latin typeface="Arial Nova Light"/>
              </a:rPr>
              <a:t>build it</a:t>
            </a:r>
          </a:p>
        </p:txBody>
      </p:sp>
      <p:sp>
        <p:nvSpPr>
          <p:cNvPr id="23" name="anim05_arr"/>
          <p:cNvSpPr/>
          <p:nvPr/>
        </p:nvSpPr>
        <p:spPr>
          <a:xfrm>
            <a:off x="9884664" y="2926080"/>
            <a:ext cx="182880" cy="457200"/>
          </a:xfrm>
          <a:prstGeom prst="rightArrow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anim05_step"/>
          <p:cNvSpPr/>
          <p:nvPr/>
        </p:nvSpPr>
        <p:spPr>
          <a:xfrm>
            <a:off x="10076688" y="2286000"/>
            <a:ext cx="1737360" cy="1737360"/>
          </a:xfrm>
          <a:prstGeom prst="roundRect">
            <a:avLst>
              <a:gd name="adj" fmla="val 5500"/>
            </a:avLst>
          </a:prstGeom>
          <a:solidFill>
            <a:srgbClr val="02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nim05_cmd"/>
          <p:cNvSpPr txBox="1"/>
          <p:nvPr/>
        </p:nvSpPr>
        <p:spPr>
          <a:xfrm>
            <a:off x="10113264" y="2697480"/>
            <a:ext cx="16642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onsolas"/>
              </a:rPr>
              <a:t>run the test plan</a:t>
            </a:r>
          </a:p>
        </p:txBody>
      </p:sp>
      <p:sp>
        <p:nvSpPr>
          <p:cNvPr id="26" name="anim05_sub"/>
          <p:cNvSpPr txBox="1"/>
          <p:nvPr/>
        </p:nvSpPr>
        <p:spPr>
          <a:xfrm>
            <a:off x="10113264" y="3200400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C9D7E8"/>
                </a:solidFill>
                <a:latin typeface="Arial Nova Light"/>
              </a:rPr>
              <a:t>prove it</a:t>
            </a:r>
          </a:p>
        </p:txBody>
      </p:sp>
      <p:sp>
        <p:nvSpPr>
          <p:cNvPr id="22" name="anim06_footer"/>
          <p:cNvSpPr txBox="1"/>
          <p:nvPr/>
        </p:nvSpPr>
        <p:spPr>
          <a:xfrm>
            <a:off x="640080" y="4663440"/>
            <a:ext cx="10972800" cy="1052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800" b="1" dirty="0">
                <a:solidFill>
                  <a:srgbClr val="0D2155"/>
                </a:solidFill>
                <a:latin typeface="Arial Nova Light"/>
              </a:rPr>
              <a:t>Don't skip steps.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0" dirty="0">
                <a:solidFill>
                  <a:srgbClr val="4A5563"/>
                </a:solidFill>
                <a:latin typeface="Arial Nova Light"/>
              </a:rPr>
              <a:t>The constitution narrows the spec. The spec narrows the plan. The plan narrows the code. The tests prove it.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0" dirty="0">
                <a:solidFill>
                  <a:srgbClr val="4A5563"/>
                </a:solidFill>
                <a:latin typeface="Arial Nova Light"/>
              </a:rPr>
              <a:t>Skip one, and the gap surfaces months later </a:t>
            </a:r>
            <a:r>
              <a:rPr lang="en-GB" sz="1500" b="0" dirty="0">
                <a:solidFill>
                  <a:srgbClr val="4A5563"/>
                </a:solidFill>
                <a:latin typeface="Arial Nova Light"/>
              </a:rPr>
              <a:t>-</a:t>
            </a:r>
            <a:r>
              <a:rPr sz="1500" b="0" dirty="0">
                <a:solidFill>
                  <a:srgbClr val="4A5563"/>
                </a:solidFill>
                <a:latin typeface="Arial Nova Light"/>
              </a:rPr>
              <a:t> in production.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/>
      <p:bldP spid="17" grpId="0"/>
      <p:bldP spid="18" grpId="0" animBg="1"/>
      <p:bldP spid="19" grpId="0" animBg="1"/>
      <p:bldP spid="20" grpId="0"/>
      <p:bldP spid="21" grpId="0"/>
      <p:bldP spid="23" grpId="0" animBg="1"/>
      <p:bldP spid="24" grpId="0" animBg="1"/>
      <p:bldP spid="25" grpId="0"/>
      <p:bldP spid="26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constitution: rules that outlive any single blueprint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4663440" cy="4297680"/>
          </a:xfrm>
          <a:prstGeom prst="roundRect">
            <a:avLst>
              <a:gd name="adj" fmla="val 55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 Nova"/>
              </a:rPr>
              <a:t>/speckit.constitution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3931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800" b="1" dirty="0">
                <a:solidFill>
                  <a:srgbClr val="FFFFFF"/>
                </a:solidFill>
                <a:latin typeface="Arial Nova Light"/>
              </a:rPr>
              <a:t>Write it once, early.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0" dirty="0">
                <a:solidFill>
                  <a:srgbClr val="FFFFFF"/>
                </a:solidFill>
                <a:latin typeface="Arial Nova Light"/>
              </a:rPr>
              <a:t>The agent re-reads it at every later step, so the spec, plan, and code stay honest.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dirty="0">
                <a:solidFill>
                  <a:srgbClr val="C9D7E8"/>
                </a:solidFill>
                <a:latin typeface="Arial Nova Light"/>
              </a:rPr>
              <a:t>One constitution across your portfolio means every blueprint behaves like part of one product.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645920"/>
            <a:ext cx="6035040" cy="91440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806440" y="1975104"/>
            <a:ext cx="201168" cy="201168"/>
          </a:xfrm>
          <a:prstGeom prst="ellipse">
            <a:avLst/>
          </a:prstGeom>
          <a:solidFill>
            <a:srgbClr val="0B7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72200" y="175564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 Nova Light"/>
              </a:rPr>
              <a:t>Declarative IaC only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C9D7E8"/>
                </a:solidFill>
                <a:latin typeface="Arial Nova Light"/>
              </a:rPr>
              <a:t>no imperative scripts where a plugin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2697480"/>
            <a:ext cx="6035040" cy="91440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806440" y="3026664"/>
            <a:ext cx="201168" cy="201168"/>
          </a:xfrm>
          <a:prstGeom prst="ellipse">
            <a:avLst/>
          </a:prstGeom>
          <a:solidFill>
            <a:srgbClr val="0B7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2200" y="2807208"/>
            <a:ext cx="5303520" cy="599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dirty="0">
                <a:solidFill>
                  <a:srgbClr val="FFFFFF"/>
                </a:solidFill>
                <a:latin typeface="Arial Nova Light"/>
              </a:rPr>
              <a:t>Secret hygiene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dirty="0">
                <a:solidFill>
                  <a:srgbClr val="C9D7E8"/>
                </a:solidFill>
                <a:latin typeface="Arial Nova Light"/>
              </a:rPr>
              <a:t>credential references </a:t>
            </a:r>
            <a:r>
              <a:rPr lang="en-GB" sz="1250" b="0" dirty="0">
                <a:solidFill>
                  <a:srgbClr val="C9D7E8"/>
                </a:solidFill>
                <a:latin typeface="Arial Nova Light"/>
              </a:rPr>
              <a:t>-</a:t>
            </a:r>
            <a:r>
              <a:rPr sz="1250" b="0" dirty="0">
                <a:solidFill>
                  <a:srgbClr val="C9D7E8"/>
                </a:solidFill>
                <a:latin typeface="Arial Nova Light"/>
              </a:rPr>
              <a:t> never hardcoded secrets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3749039"/>
            <a:ext cx="6035040" cy="91440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806440" y="4078224"/>
            <a:ext cx="201168" cy="201168"/>
          </a:xfrm>
          <a:prstGeom prst="ellipse">
            <a:avLst/>
          </a:prstGeom>
          <a:solidFill>
            <a:srgbClr val="0B7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385876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 Nova Light"/>
              </a:rPr>
              <a:t>Idempotency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C9D7E8"/>
                </a:solidFill>
                <a:latin typeface="Arial Nova Light"/>
              </a:rPr>
              <a:t>re-running a blueprint converges, never duplicates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4800600"/>
            <a:ext cx="6035040" cy="91440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06440" y="5129784"/>
            <a:ext cx="201168" cy="201168"/>
          </a:xfrm>
          <a:prstGeom prst="ellipse">
            <a:avLst/>
          </a:prstGeom>
          <a:solidFill>
            <a:srgbClr val="0B7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72200" y="491032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 Nova Light"/>
              </a:rPr>
              <a:t>Semantic versioning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C9D7E8"/>
                </a:solidFill>
                <a:latin typeface="Arial Nova Light"/>
              </a:rPr>
              <a:t>versioned releases with a maintained CHANGELOG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constitution covers - and how it is checked</a:t>
            </a:r>
          </a:p>
        </p:txBody>
      </p:sp>
      <p:sp>
        <p:nvSpPr>
          <p:cNvPr id="101" name="area0_card"/>
          <p:cNvSpPr/>
          <p:nvPr/>
        </p:nvSpPr>
        <p:spPr>
          <a:xfrm>
            <a:off x="548640" y="1554480"/>
            <a:ext cx="3535680" cy="196596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02" name="area0_sec"/>
          <p:cNvSpPr/>
          <p:nvPr/>
        </p:nvSpPr>
        <p:spPr>
          <a:xfrm>
            <a:off x="777240" y="1783080"/>
            <a:ext cx="822960" cy="320040"/>
          </a:xfrm>
          <a:prstGeom prst="roundRect">
            <a:avLst>
              <a:gd name="adj" fmla="val 50000"/>
            </a:avLst>
          </a:prstGeom>
          <a:solidFill>
            <a:srgbClr val="0672C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1300" b="1" dirty="0">
                <a:solidFill>
                  <a:srgbClr val="FFFFFF"/>
                </a:solidFill>
                <a:latin typeface="Arial Nova"/>
                <a:cs typeface="Arial Nova"/>
              </a:rPr>
              <a:t>§1</a:t>
            </a:r>
          </a:p>
        </p:txBody>
      </p:sp>
      <p:sp>
        <p:nvSpPr>
          <p:cNvPr id="103" name="area0_text"/>
          <p:cNvSpPr txBox="1"/>
          <p:nvPr/>
        </p:nvSpPr>
        <p:spPr>
          <a:xfrm>
            <a:off x="777240" y="2194560"/>
            <a:ext cx="30784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en-US" sz="1500" b="1" dirty="0">
                <a:solidFill>
                  <a:srgbClr val="FFFFFF"/>
                </a:solidFill>
                <a:latin typeface="Arial Nova Light"/>
                <a:cs typeface="Arial Nova Light"/>
              </a:rPr>
              <a:t>Core principles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C9D7E8"/>
                </a:solidFill>
                <a:latin typeface="Arial Nova Light"/>
                <a:cs typeface="Arial Nova Light"/>
              </a:rPr>
              <a:t>dell_1_1, real plugin node types with pinned versions, declarative IaC over scripts</a:t>
            </a:r>
          </a:p>
        </p:txBody>
      </p:sp>
      <p:sp>
        <p:nvSpPr>
          <p:cNvPr id="104" name="area0_check"/>
          <p:cNvSpPr txBox="1"/>
          <p:nvPr/>
        </p:nvSpPr>
        <p:spPr>
          <a:xfrm>
            <a:off x="777240" y="3063240"/>
            <a:ext cx="307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FCFD6"/>
                </a:solidFill>
                <a:latin typeface="Arial Nova"/>
                <a:cs typeface="Arial Nova"/>
              </a:rPr>
              <a:t>lint: TD-001, TD-002, IM-003</a:t>
            </a:r>
          </a:p>
        </p:txBody>
      </p:sp>
      <p:sp>
        <p:nvSpPr>
          <p:cNvPr id="105" name="area1_card"/>
          <p:cNvSpPr/>
          <p:nvPr/>
        </p:nvSpPr>
        <p:spPr>
          <a:xfrm>
            <a:off x="4312920" y="1554480"/>
            <a:ext cx="3535680" cy="196596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06" name="area1_sec"/>
          <p:cNvSpPr/>
          <p:nvPr/>
        </p:nvSpPr>
        <p:spPr>
          <a:xfrm>
            <a:off x="4541520" y="1783080"/>
            <a:ext cx="822960" cy="320040"/>
          </a:xfrm>
          <a:prstGeom prst="roundRect">
            <a:avLst>
              <a:gd name="adj" fmla="val 50000"/>
            </a:avLst>
          </a:prstGeom>
          <a:solidFill>
            <a:srgbClr val="0672C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1300" b="1" dirty="0">
                <a:solidFill>
                  <a:srgbClr val="FFFFFF"/>
                </a:solidFill>
                <a:latin typeface="Arial Nova"/>
                <a:cs typeface="Arial Nova"/>
              </a:rPr>
              <a:t>§2</a:t>
            </a:r>
          </a:p>
        </p:txBody>
      </p:sp>
      <p:sp>
        <p:nvSpPr>
          <p:cNvPr id="107" name="area1_text"/>
          <p:cNvSpPr txBox="1"/>
          <p:nvPr/>
        </p:nvSpPr>
        <p:spPr>
          <a:xfrm>
            <a:off x="4541520" y="2194560"/>
            <a:ext cx="30784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en-US" sz="1500" b="1" dirty="0">
                <a:solidFill>
                  <a:srgbClr val="FFFFFF"/>
                </a:solidFill>
                <a:latin typeface="Arial Nova Light"/>
                <a:cs typeface="Arial Nova Light"/>
              </a:rPr>
              <a:t>Operator experience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C9D7E8"/>
                </a:solidFill>
                <a:latin typeface="Arial Nova Light"/>
                <a:cs typeface="Arial Nova Light"/>
              </a:rPr>
              <a:t>Target environment and credential drop-downs; every input typed, labelled, and validated</a:t>
            </a:r>
          </a:p>
        </p:txBody>
      </p:sp>
      <p:sp>
        <p:nvSpPr>
          <p:cNvPr id="108" name="area1_check"/>
          <p:cNvSpPr txBox="1"/>
          <p:nvPr/>
        </p:nvSpPr>
        <p:spPr>
          <a:xfrm>
            <a:off x="4541520" y="3063240"/>
            <a:ext cx="307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FCFD6"/>
                </a:solidFill>
                <a:latin typeface="Arial Nova"/>
                <a:cs typeface="Arial Nova"/>
              </a:rPr>
              <a:t>lint: IN-001 to IN-011, SC-002</a:t>
            </a:r>
          </a:p>
        </p:txBody>
      </p:sp>
      <p:sp>
        <p:nvSpPr>
          <p:cNvPr id="109" name="area2_card"/>
          <p:cNvSpPr/>
          <p:nvPr/>
        </p:nvSpPr>
        <p:spPr>
          <a:xfrm>
            <a:off x="8077200" y="1554480"/>
            <a:ext cx="3535680" cy="196596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10" name="area2_sec"/>
          <p:cNvSpPr/>
          <p:nvPr/>
        </p:nvSpPr>
        <p:spPr>
          <a:xfrm>
            <a:off x="8305800" y="1783080"/>
            <a:ext cx="822960" cy="320040"/>
          </a:xfrm>
          <a:prstGeom prst="roundRect">
            <a:avLst>
              <a:gd name="adj" fmla="val 50000"/>
            </a:avLst>
          </a:prstGeom>
          <a:solidFill>
            <a:srgbClr val="0672C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1300" b="1" dirty="0">
                <a:solidFill>
                  <a:srgbClr val="FFFFFF"/>
                </a:solidFill>
                <a:latin typeface="Arial Nova"/>
                <a:cs typeface="Arial Nova"/>
              </a:rPr>
              <a:t>§3</a:t>
            </a:r>
          </a:p>
        </p:txBody>
      </p:sp>
      <p:sp>
        <p:nvSpPr>
          <p:cNvPr id="111" name="area2_text"/>
          <p:cNvSpPr txBox="1"/>
          <p:nvPr/>
        </p:nvSpPr>
        <p:spPr>
          <a:xfrm>
            <a:off x="8305800" y="2194560"/>
            <a:ext cx="30784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en-US" sz="1500" b="1" dirty="0">
                <a:solidFill>
                  <a:srgbClr val="FFFFFF"/>
                </a:solidFill>
                <a:latin typeface="Arial Nova Light"/>
                <a:cs typeface="Arial Nova Light"/>
              </a:rPr>
              <a:t>Lifecycle &amp; composition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C9D7E8"/>
                </a:solidFill>
                <a:latin typeface="Arial Nova Light"/>
                <a:cs typeface="Arial Nova Light"/>
              </a:rPr>
              <a:t>Paired lifecycle operations, capabilities, ServiceComponent vs SharedResource, Day-2 workflows</a:t>
            </a:r>
          </a:p>
        </p:txBody>
      </p:sp>
      <p:sp>
        <p:nvSpPr>
          <p:cNvPr id="112" name="area2_check"/>
          <p:cNvSpPr txBox="1"/>
          <p:nvPr/>
        </p:nvSpPr>
        <p:spPr>
          <a:xfrm>
            <a:off x="8305800" y="3063240"/>
            <a:ext cx="307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FCFD6"/>
                </a:solidFill>
                <a:latin typeface="Arial Nova"/>
                <a:cs typeface="Arial Nova"/>
              </a:rPr>
              <a:t>lint: ND-001 to ND-009, CP-001 to CP-004</a:t>
            </a:r>
          </a:p>
        </p:txBody>
      </p:sp>
      <p:sp>
        <p:nvSpPr>
          <p:cNvPr id="113" name="area3_card"/>
          <p:cNvSpPr/>
          <p:nvPr/>
        </p:nvSpPr>
        <p:spPr>
          <a:xfrm>
            <a:off x="548640" y="3749040"/>
            <a:ext cx="3535680" cy="196596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14" name="area3_sec"/>
          <p:cNvSpPr/>
          <p:nvPr/>
        </p:nvSpPr>
        <p:spPr>
          <a:xfrm>
            <a:off x="777240" y="3977640"/>
            <a:ext cx="822960" cy="320040"/>
          </a:xfrm>
          <a:prstGeom prst="roundRect">
            <a:avLst>
              <a:gd name="adj" fmla="val 50000"/>
            </a:avLst>
          </a:prstGeom>
          <a:solidFill>
            <a:srgbClr val="0672C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1300" b="1" dirty="0">
                <a:solidFill>
                  <a:srgbClr val="FFFFFF"/>
                </a:solidFill>
                <a:latin typeface="Arial Nova"/>
                <a:cs typeface="Arial Nova"/>
              </a:rPr>
              <a:t>§4</a:t>
            </a:r>
          </a:p>
        </p:txBody>
      </p:sp>
      <p:sp>
        <p:nvSpPr>
          <p:cNvPr id="115" name="area3_text"/>
          <p:cNvSpPr txBox="1"/>
          <p:nvPr/>
        </p:nvSpPr>
        <p:spPr>
          <a:xfrm>
            <a:off x="777240" y="4389120"/>
            <a:ext cx="30784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en-US" sz="1500" b="1" dirty="0">
                <a:solidFill>
                  <a:srgbClr val="FFFFFF"/>
                </a:solidFill>
                <a:latin typeface="Arial Nova Light"/>
                <a:cs typeface="Arial Nova Light"/>
              </a:rPr>
              <a:t>Security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C9D7E8"/>
                </a:solidFill>
                <a:latin typeface="Arial Nova Light"/>
                <a:cs typeface="Arial Nova Light"/>
              </a:rPr>
              <a:t>Least privilege, no hardcoded secrets, TLS verification on by default</a:t>
            </a:r>
          </a:p>
        </p:txBody>
      </p:sp>
      <p:sp>
        <p:nvSpPr>
          <p:cNvPr id="116" name="area3_check"/>
          <p:cNvSpPr txBox="1"/>
          <p:nvPr/>
        </p:nvSpPr>
        <p:spPr>
          <a:xfrm>
            <a:off x="777240" y="5257800"/>
            <a:ext cx="307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FCFD6"/>
                </a:solidFill>
                <a:latin typeface="Arial Nova"/>
                <a:cs typeface="Arial Nova"/>
              </a:rPr>
              <a:t>lint: SC-001, plus code review</a:t>
            </a:r>
          </a:p>
        </p:txBody>
      </p:sp>
      <p:sp>
        <p:nvSpPr>
          <p:cNvPr id="117" name="area4_card"/>
          <p:cNvSpPr/>
          <p:nvPr/>
        </p:nvSpPr>
        <p:spPr>
          <a:xfrm>
            <a:off x="4312920" y="3749040"/>
            <a:ext cx="3535680" cy="196596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18" name="area4_sec"/>
          <p:cNvSpPr/>
          <p:nvPr/>
        </p:nvSpPr>
        <p:spPr>
          <a:xfrm>
            <a:off x="4541520" y="3977640"/>
            <a:ext cx="822960" cy="320040"/>
          </a:xfrm>
          <a:prstGeom prst="roundRect">
            <a:avLst>
              <a:gd name="adj" fmla="val 50000"/>
            </a:avLst>
          </a:prstGeom>
          <a:solidFill>
            <a:srgbClr val="0672C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1300" b="1" dirty="0">
                <a:solidFill>
                  <a:srgbClr val="FFFFFF"/>
                </a:solidFill>
                <a:latin typeface="Arial Nova"/>
                <a:cs typeface="Arial Nova"/>
              </a:rPr>
              <a:t>§5</a:t>
            </a:r>
          </a:p>
        </p:txBody>
      </p:sp>
      <p:sp>
        <p:nvSpPr>
          <p:cNvPr id="119" name="area4_text"/>
          <p:cNvSpPr txBox="1"/>
          <p:nvPr/>
        </p:nvSpPr>
        <p:spPr>
          <a:xfrm>
            <a:off x="4541520" y="4389120"/>
            <a:ext cx="30784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en-US" sz="1500" b="1" dirty="0">
                <a:solidFill>
                  <a:srgbClr val="FFFFFF"/>
                </a:solidFill>
                <a:latin typeface="Arial Nova Light"/>
                <a:cs typeface="Arial Nova Light"/>
              </a:rPr>
              <a:t>Quality gates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C9D7E8"/>
                </a:solidFill>
                <a:latin typeface="Arial Nova Light"/>
                <a:cs typeface="Arial Nova Light"/>
              </a:rPr>
              <a:t>File structure, lint and validate-all, idempotency, CHANGELOG, Definition of Done</a:t>
            </a:r>
          </a:p>
        </p:txBody>
      </p:sp>
      <p:sp>
        <p:nvSpPr>
          <p:cNvPr id="120" name="area4_check"/>
          <p:cNvSpPr txBox="1"/>
          <p:nvPr/>
        </p:nvSpPr>
        <p:spPr>
          <a:xfrm>
            <a:off x="4541520" y="5257800"/>
            <a:ext cx="307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FCFD6"/>
                </a:solidFill>
                <a:latin typeface="Arial Nova"/>
                <a:cs typeface="Arial Nova"/>
              </a:rPr>
              <a:t>dap-bpa blueprint lint, validate-all</a:t>
            </a:r>
          </a:p>
        </p:txBody>
      </p:sp>
      <p:sp>
        <p:nvSpPr>
          <p:cNvPr id="121" name="area5_card"/>
          <p:cNvSpPr/>
          <p:nvPr/>
        </p:nvSpPr>
        <p:spPr>
          <a:xfrm>
            <a:off x="8077200" y="3749040"/>
            <a:ext cx="3535680" cy="1965960"/>
          </a:xfrm>
          <a:prstGeom prst="roundRect">
            <a:avLst>
              <a:gd name="adj" fmla="val 5500"/>
            </a:avLst>
          </a:prstGeom>
          <a:solidFill>
            <a:srgbClr val="0D215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22" name="area5_sec"/>
          <p:cNvSpPr/>
          <p:nvPr/>
        </p:nvSpPr>
        <p:spPr>
          <a:xfrm>
            <a:off x="8305800" y="3977640"/>
            <a:ext cx="822960" cy="320040"/>
          </a:xfrm>
          <a:prstGeom prst="roundRect">
            <a:avLst>
              <a:gd name="adj" fmla="val 50000"/>
            </a:avLst>
          </a:prstGeom>
          <a:solidFill>
            <a:srgbClr val="0B7C84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1300" b="1" dirty="0">
                <a:solidFill>
                  <a:srgbClr val="FFFFFF"/>
                </a:solidFill>
                <a:latin typeface="Arial Nova"/>
                <a:cs typeface="Arial Nova"/>
              </a:rPr>
              <a:t>§5.7</a:t>
            </a:r>
          </a:p>
        </p:txBody>
      </p:sp>
      <p:sp>
        <p:nvSpPr>
          <p:cNvPr id="123" name="area5_text"/>
          <p:cNvSpPr txBox="1"/>
          <p:nvPr/>
        </p:nvSpPr>
        <p:spPr>
          <a:xfrm>
            <a:off x="8305800" y="4389120"/>
            <a:ext cx="30784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en-US" sz="1500" b="1" dirty="0">
                <a:solidFill>
                  <a:srgbClr val="FFFFFF"/>
                </a:solidFill>
                <a:latin typeface="Arial Nova Light"/>
                <a:cs typeface="Arial Nova Light"/>
              </a:rPr>
              <a:t>Testing &amp; acceptance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C9D7E8"/>
                </a:solidFill>
                <a:latin typeface="Arial Nova Light"/>
                <a:cs typeface="Arial Nova Light"/>
              </a:rPr>
              <a:t>Acceptance criteria in the spec, a test plan in tasks.md, results recorded from a non-prod run</a:t>
            </a:r>
          </a:p>
        </p:txBody>
      </p:sp>
      <p:sp>
        <p:nvSpPr>
          <p:cNvPr id="124" name="area5_check"/>
          <p:cNvSpPr txBox="1"/>
          <p:nvPr/>
        </p:nvSpPr>
        <p:spPr>
          <a:xfrm>
            <a:off x="8305800" y="5257800"/>
            <a:ext cx="307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FCFD6"/>
                </a:solidFill>
                <a:latin typeface="Arial Nova"/>
                <a:cs typeface="Arial Nova"/>
              </a:rPr>
              <a:t>/speckit.analyze, test-results.md</a:t>
            </a:r>
          </a:p>
        </p:txBody>
      </p:sp>
      <p:sp>
        <p:nvSpPr>
          <p:cNvPr id="125" name="areas_caption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1400" b="0" dirty="0">
                <a:solidFill>
                  <a:srgbClr val="5A6B7D"/>
                </a:solidFill>
                <a:latin typeface="Arial Nova Light"/>
                <a:cs typeface="Arial Nova Light"/>
              </a:rPr>
              <a:t>Rules cite the lint ID or check that proves them. Specs, plans, and tasks cite rules by section number.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spec says WHAT and WHY </a:t>
            </a:r>
            <a:r>
              <a:rPr lang="en-GB" dirty="0"/>
              <a:t>-</a:t>
            </a:r>
            <a:r>
              <a:rPr dirty="0"/>
              <a:t> never HOW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 Nova"/>
              </a:rPr>
              <a:t>/speckit.specify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5394960" cy="3749039"/>
          </a:xfrm>
          <a:prstGeom prst="roundRect">
            <a:avLst>
              <a:gd name="adj" fmla="val 5500"/>
            </a:avLst>
          </a:prstGeom>
          <a:solidFill>
            <a:srgbClr val="0B7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233172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 b="1">
                <a:solidFill>
                  <a:srgbClr val="0B7C84"/>
                </a:solidFill>
                <a:latin typeface="Arial Nova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39572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 Nova Light"/>
              </a:rPr>
              <a:t>IN THE SPEC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 Nova Light"/>
              </a:rPr>
              <a:t>The outcome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C9D7E8"/>
                </a:solidFill>
                <a:latin typeface="Arial Nova Light"/>
              </a:rPr>
              <a:t>what an operator gets when the blueprint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02336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 Nova Light"/>
              </a:rPr>
              <a:t>Acceptance criteria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C9D7E8"/>
                </a:solidFill>
                <a:latin typeface="Arial Nova Light"/>
              </a:rPr>
              <a:t>what “done” means, verifiably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89204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 Nova Light"/>
              </a:rPr>
              <a:t>Constraints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C9D7E8"/>
                </a:solidFill>
                <a:latin typeface="Arial Nova Light"/>
              </a:rPr>
              <a:t>maintenance windows, change control, compliance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057400"/>
            <a:ext cx="5394960" cy="3749039"/>
          </a:xfrm>
          <a:prstGeom prst="roundRect">
            <a:avLst>
              <a:gd name="adj" fmla="val 5500"/>
            </a:avLst>
          </a:prstGeom>
          <a:solidFill>
            <a:srgbClr val="3F2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83679" y="233172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 b="1">
                <a:solidFill>
                  <a:srgbClr val="3F205C"/>
                </a:solidFill>
                <a:latin typeface="Arial Nova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79" y="239572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 Nova Light"/>
              </a:rPr>
              <a:t>NOT IN THE SPEC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1546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 Nova Light"/>
              </a:rPr>
              <a:t>Plugin or SDK choices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C9D7E8"/>
                </a:solidFill>
                <a:latin typeface="Arial Nova Light"/>
              </a:rPr>
              <a:t>Ansible vs Terraform belongs in the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02336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 Nova Light"/>
              </a:rPr>
              <a:t>YAML structure or file layout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C9D7E8"/>
                </a:solidFill>
                <a:latin typeface="Arial Nova Light"/>
              </a:rPr>
              <a:t>implementation 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892040"/>
            <a:ext cx="4663440" cy="617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dirty="0">
                <a:solidFill>
                  <a:srgbClr val="FFFFFF"/>
                </a:solidFill>
                <a:latin typeface="Arial Nova Light"/>
              </a:rPr>
              <a:t>API call sequences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dirty="0">
                <a:solidFill>
                  <a:srgbClr val="C9D7E8"/>
                </a:solidFill>
                <a:latin typeface="Arial Nova Light"/>
              </a:rPr>
              <a:t>the agent works that out </a:t>
            </a:r>
            <a:r>
              <a:rPr lang="en-GB" sz="1250" b="0" dirty="0">
                <a:solidFill>
                  <a:srgbClr val="C9D7E8"/>
                </a:solidFill>
                <a:latin typeface="Arial Nova Light"/>
              </a:rPr>
              <a:t>-</a:t>
            </a:r>
            <a:r>
              <a:rPr sz="1250" b="0" dirty="0">
                <a:solidFill>
                  <a:srgbClr val="C9D7E8"/>
                </a:solidFill>
                <a:latin typeface="Arial Nova Light"/>
              </a:rPr>
              <a:t> against the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D2155"/>
                </a:solidFill>
                <a:latin typeface="Arial Nova Light"/>
              </a:rPr>
              <a:t>Litmus test: if a sentence answers “how”, it belongs in the plan.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starts in the spec - not after the code</a:t>
            </a:r>
          </a:p>
        </p:txBody>
      </p:sp>
      <p:sp>
        <p:nvSpPr>
          <p:cNvPr id="126" name="chain0_card"/>
          <p:cNvSpPr/>
          <p:nvPr/>
        </p:nvSpPr>
        <p:spPr>
          <a:xfrm>
            <a:off x="548640" y="1554480"/>
            <a:ext cx="2526030" cy="2286000"/>
          </a:xfrm>
          <a:prstGeom prst="roundRect">
            <a:avLst>
              <a:gd name="adj" fmla="val 5500"/>
            </a:avLst>
          </a:prstGeom>
          <a:solidFill>
            <a:srgbClr val="EEF3F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27" name="chain0_cmd"/>
          <p:cNvSpPr/>
          <p:nvPr/>
        </p:nvSpPr>
        <p:spPr>
          <a:xfrm>
            <a:off x="731520" y="1737360"/>
            <a:ext cx="2160270" cy="365760"/>
          </a:xfrm>
          <a:prstGeom prst="roundRect">
            <a:avLst>
              <a:gd name="adj" fmla="val 50000"/>
            </a:avLst>
          </a:prstGeom>
          <a:solidFill>
            <a:srgbClr val="00468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FFFFFF"/>
                </a:solidFill>
                <a:latin typeface="Arial Nova"/>
                <a:cs typeface="Arial Nova"/>
              </a:rPr>
              <a:t>/speckit.specify</a:t>
            </a:r>
          </a:p>
        </p:txBody>
      </p:sp>
      <p:sp>
        <p:nvSpPr>
          <p:cNvPr id="128" name="chain0_head"/>
          <p:cNvSpPr txBox="1"/>
          <p:nvPr/>
        </p:nvSpPr>
        <p:spPr>
          <a:xfrm>
            <a:off x="731520" y="2194560"/>
            <a:ext cx="216027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en-US" sz="1500" b="1" dirty="0">
                <a:solidFill>
                  <a:srgbClr val="0D2155"/>
                </a:solidFill>
                <a:latin typeface="Arial Nova Light"/>
                <a:cs typeface="Arial Nova Light"/>
              </a:rPr>
              <a:t>Requirement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5A6B7D"/>
                </a:solidFill>
                <a:latin typeface="Consolas"/>
                <a:cs typeface="Consolas"/>
              </a:rPr>
              <a:t>spec.md</a:t>
            </a:r>
          </a:p>
        </p:txBody>
      </p:sp>
      <p:sp>
        <p:nvSpPr>
          <p:cNvPr id="129" name="chain0_sample"/>
          <p:cNvSpPr txBox="1"/>
          <p:nvPr/>
        </p:nvSpPr>
        <p:spPr>
          <a:xfrm>
            <a:off x="731520" y="2788920"/>
            <a:ext cx="216027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050" b="0" dirty="0">
                <a:solidFill>
                  <a:srgbClr val="0D2155"/>
                </a:solidFill>
                <a:latin typeface="Consolas"/>
                <a:cs typeface="Consolas"/>
              </a:rPr>
              <a:t>FR-003  Operators pick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050" b="0" dirty="0">
                <a:solidFill>
                  <a:srgbClr val="0D2155"/>
                </a:solidFill>
                <a:latin typeface="Consolas"/>
                <a:cs typeface="Consolas"/>
              </a:rPr>
              <a:t>the target vCenter from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050" b="0" dirty="0">
                <a:solidFill>
                  <a:srgbClr val="0D2155"/>
                </a:solidFill>
                <a:latin typeface="Consolas"/>
                <a:cs typeface="Consolas"/>
              </a:rPr>
              <a:t>a live drop-down</a:t>
            </a:r>
          </a:p>
        </p:txBody>
      </p:sp>
      <p:sp>
        <p:nvSpPr>
          <p:cNvPr id="130" name="chain0_arrow"/>
          <p:cNvSpPr/>
          <p:nvPr/>
        </p:nvSpPr>
        <p:spPr>
          <a:xfrm>
            <a:off x="3143250" y="2551176"/>
            <a:ext cx="182880" cy="292608"/>
          </a:xfrm>
          <a:prstGeom prst="rightArrow">
            <a:avLst/>
          </a:prstGeom>
          <a:solidFill>
            <a:srgbClr val="0672C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31" name="chain1_card"/>
          <p:cNvSpPr/>
          <p:nvPr/>
        </p:nvSpPr>
        <p:spPr>
          <a:xfrm>
            <a:off x="3394710" y="1554480"/>
            <a:ext cx="2526030" cy="2286000"/>
          </a:xfrm>
          <a:prstGeom prst="roundRect">
            <a:avLst>
              <a:gd name="adj" fmla="val 5500"/>
            </a:avLst>
          </a:prstGeom>
          <a:solidFill>
            <a:srgbClr val="EEF3F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32" name="chain1_cmd"/>
          <p:cNvSpPr/>
          <p:nvPr/>
        </p:nvSpPr>
        <p:spPr>
          <a:xfrm>
            <a:off x="3577590" y="1737360"/>
            <a:ext cx="2160270" cy="365760"/>
          </a:xfrm>
          <a:prstGeom prst="roundRect">
            <a:avLst>
              <a:gd name="adj" fmla="val 50000"/>
            </a:avLst>
          </a:prstGeom>
          <a:solidFill>
            <a:srgbClr val="0672C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FFFFFF"/>
                </a:solidFill>
                <a:latin typeface="Arial Nova"/>
                <a:cs typeface="Arial Nova"/>
              </a:rPr>
              <a:t>/speckit.specify</a:t>
            </a:r>
          </a:p>
        </p:txBody>
      </p:sp>
      <p:sp>
        <p:nvSpPr>
          <p:cNvPr id="133" name="chain1_head"/>
          <p:cNvSpPr txBox="1"/>
          <p:nvPr/>
        </p:nvSpPr>
        <p:spPr>
          <a:xfrm>
            <a:off x="3577590" y="2194560"/>
            <a:ext cx="216027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en-US" sz="1500" b="1" dirty="0">
                <a:solidFill>
                  <a:srgbClr val="0D2155"/>
                </a:solidFill>
                <a:latin typeface="Arial Nova Light"/>
                <a:cs typeface="Arial Nova Light"/>
              </a:rPr>
              <a:t>Acceptance criterion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5A6B7D"/>
                </a:solidFill>
                <a:latin typeface="Consolas"/>
                <a:cs typeface="Consolas"/>
              </a:rPr>
              <a:t>spec.md</a:t>
            </a:r>
          </a:p>
        </p:txBody>
      </p:sp>
      <p:sp>
        <p:nvSpPr>
          <p:cNvPr id="134" name="chain1_sample"/>
          <p:cNvSpPr txBox="1"/>
          <p:nvPr/>
        </p:nvSpPr>
        <p:spPr>
          <a:xfrm>
            <a:off x="3577590" y="2788920"/>
            <a:ext cx="216027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050" b="0" dirty="0">
                <a:solidFill>
                  <a:srgbClr val="0D2155"/>
                </a:solidFill>
                <a:latin typeface="Consolas"/>
                <a:cs typeface="Consolas"/>
              </a:rPr>
              <a:t>Given an onboarded vCenter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050" b="0" dirty="0">
                <a:solidFill>
                  <a:srgbClr val="0D2155"/>
                </a:solidFill>
                <a:latin typeface="Consolas"/>
                <a:cs typeface="Consolas"/>
              </a:rPr>
              <a:t>When the operator deploys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050" b="0" dirty="0">
                <a:solidFill>
                  <a:srgbClr val="0D2155"/>
                </a:solidFill>
                <a:latin typeface="Consolas"/>
                <a:cs typeface="Consolas"/>
              </a:rPr>
              <a:t>Then its datastores are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050" b="0" dirty="0">
                <a:solidFill>
                  <a:srgbClr val="0D2155"/>
                </a:solidFill>
                <a:latin typeface="Consolas"/>
                <a:cs typeface="Consolas"/>
              </a:rPr>
              <a:t>listed from inventory</a:t>
            </a:r>
          </a:p>
        </p:txBody>
      </p:sp>
      <p:sp>
        <p:nvSpPr>
          <p:cNvPr id="135" name="chain1_arrow"/>
          <p:cNvSpPr/>
          <p:nvPr/>
        </p:nvSpPr>
        <p:spPr>
          <a:xfrm>
            <a:off x="5989320" y="2551176"/>
            <a:ext cx="182880" cy="292608"/>
          </a:xfrm>
          <a:prstGeom prst="rightArrow">
            <a:avLst/>
          </a:prstGeom>
          <a:solidFill>
            <a:srgbClr val="0672C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36" name="chain2_card"/>
          <p:cNvSpPr/>
          <p:nvPr/>
        </p:nvSpPr>
        <p:spPr>
          <a:xfrm>
            <a:off x="6240780" y="1554480"/>
            <a:ext cx="2526030" cy="2286000"/>
          </a:xfrm>
          <a:prstGeom prst="roundRect">
            <a:avLst>
              <a:gd name="adj" fmla="val 5500"/>
            </a:avLst>
          </a:prstGeom>
          <a:solidFill>
            <a:srgbClr val="EEF3F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37" name="chain2_cmd"/>
          <p:cNvSpPr/>
          <p:nvPr/>
        </p:nvSpPr>
        <p:spPr>
          <a:xfrm>
            <a:off x="6423660" y="1737360"/>
            <a:ext cx="2160270" cy="365760"/>
          </a:xfrm>
          <a:prstGeom prst="roundRect">
            <a:avLst>
              <a:gd name="adj" fmla="val 50000"/>
            </a:avLst>
          </a:prstGeom>
          <a:solidFill>
            <a:srgbClr val="0B7C84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FFFFFF"/>
                </a:solidFill>
                <a:latin typeface="Arial Nova"/>
                <a:cs typeface="Arial Nova"/>
              </a:rPr>
              <a:t>/speckit.tasks</a:t>
            </a:r>
          </a:p>
        </p:txBody>
      </p:sp>
      <p:sp>
        <p:nvSpPr>
          <p:cNvPr id="138" name="chain2_head"/>
          <p:cNvSpPr txBox="1"/>
          <p:nvPr/>
        </p:nvSpPr>
        <p:spPr>
          <a:xfrm>
            <a:off x="6423660" y="2194560"/>
            <a:ext cx="216027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en-US" sz="1500" b="1" dirty="0">
                <a:solidFill>
                  <a:srgbClr val="0D2155"/>
                </a:solidFill>
                <a:latin typeface="Arial Nova Light"/>
                <a:cs typeface="Arial Nova Light"/>
              </a:rPr>
              <a:t>Test task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5A6B7D"/>
                </a:solidFill>
                <a:latin typeface="Consolas"/>
                <a:cs typeface="Consolas"/>
              </a:rPr>
              <a:t>tasks.md</a:t>
            </a:r>
          </a:p>
        </p:txBody>
      </p:sp>
      <p:sp>
        <p:nvSpPr>
          <p:cNvPr id="139" name="chain2_sample"/>
          <p:cNvSpPr txBox="1"/>
          <p:nvPr/>
        </p:nvSpPr>
        <p:spPr>
          <a:xfrm>
            <a:off x="6423660" y="2788920"/>
            <a:ext cx="216027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050" b="0" dirty="0">
                <a:solidFill>
                  <a:srgbClr val="0D2155"/>
                </a:solidFill>
                <a:latin typeface="Consolas"/>
                <a:cs typeface="Consolas"/>
              </a:rPr>
              <a:t>T014 [FR-003] Deploy in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050" b="0" dirty="0">
                <a:solidFill>
                  <a:srgbClr val="0D2155"/>
                </a:solidFill>
                <a:latin typeface="Consolas"/>
                <a:cs typeface="Consolas"/>
              </a:rPr>
              <a:t>inventory mode; confirm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050" b="0" dirty="0">
                <a:solidFill>
                  <a:srgbClr val="0D2155"/>
                </a:solidFill>
                <a:latin typeface="Consolas"/>
                <a:cs typeface="Consolas"/>
              </a:rPr>
              <a:t>the list matches vCenter</a:t>
            </a:r>
          </a:p>
        </p:txBody>
      </p:sp>
      <p:sp>
        <p:nvSpPr>
          <p:cNvPr id="140" name="chain2_arrow"/>
          <p:cNvSpPr/>
          <p:nvPr/>
        </p:nvSpPr>
        <p:spPr>
          <a:xfrm>
            <a:off x="8835390" y="2551176"/>
            <a:ext cx="182880" cy="292608"/>
          </a:xfrm>
          <a:prstGeom prst="rightArrow">
            <a:avLst/>
          </a:prstGeom>
          <a:solidFill>
            <a:srgbClr val="0672C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41" name="chain3_card"/>
          <p:cNvSpPr/>
          <p:nvPr/>
        </p:nvSpPr>
        <p:spPr>
          <a:xfrm>
            <a:off x="9086850" y="1554480"/>
            <a:ext cx="2526030" cy="2286000"/>
          </a:xfrm>
          <a:prstGeom prst="roundRect">
            <a:avLst>
              <a:gd name="adj" fmla="val 5500"/>
            </a:avLst>
          </a:prstGeom>
          <a:solidFill>
            <a:srgbClr val="EEF3F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42" name="chain3_cmd"/>
          <p:cNvSpPr/>
          <p:nvPr/>
        </p:nvSpPr>
        <p:spPr>
          <a:xfrm>
            <a:off x="9269730" y="1737360"/>
            <a:ext cx="2160270" cy="365760"/>
          </a:xfrm>
          <a:prstGeom prst="roundRect">
            <a:avLst>
              <a:gd name="adj" fmla="val 50000"/>
            </a:avLst>
          </a:prstGeom>
          <a:solidFill>
            <a:srgbClr val="0A5257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FFFFFF"/>
                </a:solidFill>
                <a:latin typeface="Arial Nova"/>
                <a:cs typeface="Arial Nova"/>
              </a:rPr>
              <a:t>run the test plan</a:t>
            </a:r>
          </a:p>
        </p:txBody>
      </p:sp>
      <p:sp>
        <p:nvSpPr>
          <p:cNvPr id="143" name="chain3_head"/>
          <p:cNvSpPr txBox="1"/>
          <p:nvPr/>
        </p:nvSpPr>
        <p:spPr>
          <a:xfrm>
            <a:off x="9269730" y="2194560"/>
            <a:ext cx="216027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en-US" sz="1500" b="1" dirty="0">
                <a:solidFill>
                  <a:srgbClr val="0D2155"/>
                </a:solidFill>
                <a:latin typeface="Arial Nova Light"/>
                <a:cs typeface="Arial Nova Light"/>
              </a:rPr>
              <a:t>Result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5A6B7D"/>
                </a:solidFill>
                <a:latin typeface="Consolas"/>
                <a:cs typeface="Consolas"/>
              </a:rPr>
              <a:t>test-results.md</a:t>
            </a:r>
          </a:p>
        </p:txBody>
      </p:sp>
      <p:sp>
        <p:nvSpPr>
          <p:cNvPr id="144" name="chain3_sample"/>
          <p:cNvSpPr txBox="1"/>
          <p:nvPr/>
        </p:nvSpPr>
        <p:spPr>
          <a:xfrm>
            <a:off x="9269730" y="2788920"/>
            <a:ext cx="216027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050" b="0" dirty="0">
                <a:solidFill>
                  <a:srgbClr val="0D2155"/>
                </a:solidFill>
                <a:latin typeface="Consolas"/>
                <a:cs typeface="Consolas"/>
              </a:rPr>
              <a:t>T014  PASS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050" b="0" dirty="0">
                <a:solidFill>
                  <a:srgbClr val="0D2155"/>
                </a:solidFill>
                <a:latin typeface="Consolas"/>
                <a:cs typeface="Consolas"/>
              </a:rPr>
              <a:t>deployment vm-dev-0142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050" b="0" dirty="0">
                <a:solidFill>
                  <a:srgbClr val="0D2155"/>
                </a:solidFill>
                <a:latin typeface="Consolas"/>
                <a:cs typeface="Consolas"/>
              </a:rPr>
              <a:t>2026-10-29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050" b="0" dirty="0">
                <a:solidFill>
                  <a:srgbClr val="0D2155"/>
                </a:solidFill>
                <a:latin typeface="Consolas"/>
                <a:cs typeface="Consolas"/>
              </a:rPr>
              <a:t>dap-bpa v0.32.0</a:t>
            </a:r>
          </a:p>
        </p:txBody>
      </p:sp>
      <p:sp>
        <p:nvSpPr>
          <p:cNvPr id="145" name="rule0_card"/>
          <p:cNvSpPr/>
          <p:nvPr/>
        </p:nvSpPr>
        <p:spPr>
          <a:xfrm>
            <a:off x="548640" y="4069080"/>
            <a:ext cx="5417820" cy="132588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</p:spPr>
        <p:txBody>
          <a:bodyPr wrap="square" lIns="274320" tIns="137160" rIns="274320" bIns="137160" rtlCol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lang="en-US" sz="1500" b="1" dirty="0">
                <a:solidFill>
                  <a:srgbClr val="FFFFFF"/>
                </a:solidFill>
                <a:latin typeface="Arial Nova Light"/>
                <a:cs typeface="Arial Nova Light"/>
              </a:rPr>
              <a:t>Check the chain before you build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C9D7E8"/>
                </a:solidFill>
                <a:latin typeface="Arial Nova Light"/>
                <a:cs typeface="Arial Nova Light"/>
              </a:rPr>
              <a:t>Run /speckit.analyze before /speckit.implement. A requirement with no test task is a gap - caught before any YAML exists.</a:t>
            </a:r>
          </a:p>
        </p:txBody>
      </p:sp>
      <p:sp>
        <p:nvSpPr>
          <p:cNvPr id="146" name="rule1_card"/>
          <p:cNvSpPr/>
          <p:nvPr/>
        </p:nvSpPr>
        <p:spPr>
          <a:xfrm>
            <a:off x="6195060" y="4069080"/>
            <a:ext cx="5417820" cy="1325880"/>
          </a:xfrm>
          <a:prstGeom prst="roundRect">
            <a:avLst>
              <a:gd name="adj" fmla="val 5500"/>
            </a:avLst>
          </a:prstGeom>
          <a:solidFill>
            <a:srgbClr val="0D2155"/>
          </a:solidFill>
          <a:ln>
            <a:noFill/>
          </a:ln>
        </p:spPr>
        <p:txBody>
          <a:bodyPr wrap="square" lIns="274320" tIns="137160" rIns="274320" bIns="137160" rtlCol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lang="en-US" sz="1500" b="1" dirty="0">
                <a:solidFill>
                  <a:srgbClr val="FFFFFF"/>
                </a:solidFill>
                <a:latin typeface="Arial Nova Light"/>
                <a:cs typeface="Arial Nova Light"/>
              </a:rPr>
              <a:t>Mandatory, not optional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C9D7E8"/>
                </a:solidFill>
                <a:latin typeface="Arial Nova Light"/>
                <a:cs typeface="Arial Nova Light"/>
              </a:rPr>
              <a:t>Stock Spec Kit treats tests as optional. Constitution §5.7 requires every acceptance criterion to map to at least one test task.</a:t>
            </a:r>
          </a:p>
        </p:txBody>
      </p:sp>
      <p:sp>
        <p:nvSpPr>
          <p:cNvPr id="147" name="chain_caption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0D2155"/>
                </a:solidFill>
                <a:latin typeface="Arial Nova Light"/>
                <a:cs typeface="Arial Nova Light"/>
              </a:rPr>
              <a:t>Every requirement has a criterion. Every criterion has a test. Every test has a result.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plan is a conversation, not a command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 Nova"/>
              </a:rPr>
              <a:t>/speckit.plan</a:t>
            </a:r>
          </a:p>
        </p:txBody>
      </p:sp>
      <p:sp>
        <p:nvSpPr>
          <p:cNvPr id="4" name="anim00_you"/>
          <p:cNvSpPr/>
          <p:nvPr/>
        </p:nvSpPr>
        <p:spPr>
          <a:xfrm>
            <a:off x="548640" y="2194560"/>
            <a:ext cx="5120640" cy="1828800"/>
          </a:xfrm>
          <a:prstGeom prst="roundRect">
            <a:avLst>
              <a:gd name="adj" fmla="val 180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nim00_youtxt"/>
          <p:cNvSpPr txBox="1"/>
          <p:nvPr/>
        </p:nvSpPr>
        <p:spPr>
          <a:xfrm>
            <a:off x="868680" y="237744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C9D7E8"/>
                </a:solidFill>
                <a:latin typeface="Arial Nova Light"/>
              </a:rPr>
              <a:t>YOU BRING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Arial Nova Light"/>
              </a:rPr>
              <a:t>“Targets are vCenter and K8s. Reuse our Ansible roles. No internet access at deploy time.”</a:t>
            </a:r>
          </a:p>
        </p:txBody>
      </p:sp>
      <p:sp>
        <p:nvSpPr>
          <p:cNvPr id="6" name="anim01_agent"/>
          <p:cNvSpPr/>
          <p:nvPr/>
        </p:nvSpPr>
        <p:spPr>
          <a:xfrm>
            <a:off x="6492240" y="3108960"/>
            <a:ext cx="5120640" cy="2011680"/>
          </a:xfrm>
          <a:prstGeom prst="roundRect">
            <a:avLst>
              <a:gd name="adj" fmla="val 18000"/>
            </a:avLst>
          </a:prstGeom>
          <a:solidFill>
            <a:srgbClr val="004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nim01_agenttxt"/>
          <p:cNvSpPr txBox="1"/>
          <p:nvPr/>
        </p:nvSpPr>
        <p:spPr>
          <a:xfrm>
            <a:off x="6812280" y="3291840"/>
            <a:ext cx="4572000" cy="1173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 dirty="0">
                <a:solidFill>
                  <a:srgbClr val="C9D7E8"/>
                </a:solidFill>
                <a:latin typeface="Arial Nova Light"/>
              </a:rPr>
              <a:t>THE AGENT DRAFTS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dirty="0">
                <a:solidFill>
                  <a:srgbClr val="FFFFFF"/>
                </a:solidFill>
                <a:latin typeface="Arial Nova Light"/>
              </a:rPr>
              <a:t>Topology, plugin choices, inputs and outputs, failure handling </a:t>
            </a:r>
            <a:r>
              <a:rPr lang="en-GB" sz="1500" b="0" dirty="0">
                <a:solidFill>
                  <a:srgbClr val="FFFFFF"/>
                </a:solidFill>
                <a:latin typeface="Arial Nova Light"/>
              </a:rPr>
              <a:t>-</a:t>
            </a:r>
            <a:r>
              <a:rPr sz="1500" b="0" dirty="0">
                <a:solidFill>
                  <a:srgbClr val="FFFFFF"/>
                </a:solidFill>
                <a:latin typeface="Arial Nova Light"/>
              </a:rPr>
              <a:t> plus the open questions it can't decide for you.</a:t>
            </a:r>
          </a:p>
        </p:txBody>
      </p:sp>
      <p:sp>
        <p:nvSpPr>
          <p:cNvPr id="8" name="anim02_loop"/>
          <p:cNvSpPr/>
          <p:nvPr/>
        </p:nvSpPr>
        <p:spPr>
          <a:xfrm>
            <a:off x="4572000" y="4572000"/>
            <a:ext cx="1554480" cy="1554480"/>
          </a:xfrm>
          <a:prstGeom prst="circularArrow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nim02_caption"/>
          <p:cNvSpPr txBox="1"/>
          <p:nvPr/>
        </p:nvSpPr>
        <p:spPr>
          <a:xfrm>
            <a:off x="640080" y="5989320"/>
            <a:ext cx="10972800" cy="345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 dirty="0">
                <a:solidFill>
                  <a:srgbClr val="0D2155"/>
                </a:solidFill>
                <a:latin typeface="Arial Nova Light"/>
              </a:rPr>
              <a:t>Review, push back, repeat </a:t>
            </a:r>
            <a:r>
              <a:rPr lang="en-GB" sz="1600" b="1" dirty="0">
                <a:solidFill>
                  <a:srgbClr val="0D2155"/>
                </a:solidFill>
                <a:latin typeface="Arial Nova Light"/>
              </a:rPr>
              <a:t>-</a:t>
            </a:r>
            <a:r>
              <a:rPr sz="1600" b="1" dirty="0">
                <a:solidFill>
                  <a:srgbClr val="0D2155"/>
                </a:solidFill>
                <a:latin typeface="Arial Nova Light"/>
              </a:rPr>
              <a:t> until you'd put your name on the plan.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 animBg="1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Build in reviewable slices </a:t>
            </a:r>
            <a:r>
              <a:rPr lang="en-GB" dirty="0"/>
              <a:t>-</a:t>
            </a:r>
            <a:r>
              <a:rPr dirty="0"/>
              <a:t> not one big bang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 Nova"/>
              </a:rPr>
              <a:t>/speckit.tasks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06040" y="141732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 Nova"/>
              </a:rPr>
              <a:t>/speckit.implement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394960" cy="384048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2377440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B7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 Nova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5915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onsolas"/>
              </a:rPr>
              <a:t>T01  Provision the VM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054096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B7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 Nova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3580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onsolas"/>
              </a:rPr>
              <a:t>T02  Apply hardening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730752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 Nova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3712464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C9D7E8"/>
                </a:solidFill>
                <a:latin typeface="Consolas"/>
              </a:rPr>
              <a:t>T03  Configure networking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407408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 Nova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43891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C9D7E8"/>
                </a:solidFill>
                <a:latin typeface="Consolas"/>
              </a:rPr>
              <a:t>T04  Install monitoring 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508406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 Nova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506577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C9D7E8"/>
                </a:solidFill>
                <a:latin typeface="Consolas"/>
              </a:rPr>
              <a:t>T05  Wire up outputs &amp; 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623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0B7C84"/>
                </a:solidFill>
                <a:latin typeface="Consolas"/>
              </a:rPr>
              <a:t>slice 1 shipped → review → slice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103120"/>
            <a:ext cx="5303520" cy="3840480"/>
          </a:xfrm>
          <a:prstGeom prst="roundRect">
            <a:avLst>
              <a:gd name="adj" fmla="val 55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2377440"/>
            <a:ext cx="4572000" cy="25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800" b="1" dirty="0">
                <a:solidFill>
                  <a:srgbClr val="FFFFFF"/>
                </a:solidFill>
                <a:latin typeface="Arial Nova Light"/>
              </a:rPr>
              <a:t>You stay in the loop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0" dirty="0">
                <a:solidFill>
                  <a:srgbClr val="FFFFFF"/>
                </a:solidFill>
                <a:latin typeface="Arial Nova Light"/>
              </a:rPr>
              <a:t>•  Approve or reject every diff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0" dirty="0">
                <a:solidFill>
                  <a:srgbClr val="FFFFFF"/>
                </a:solidFill>
                <a:latin typeface="Arial Nova Light"/>
              </a:rPr>
              <a:t>•  Ship one vertical slice end-to-end before </a:t>
            </a:r>
            <a:r>
              <a:rPr lang="en-GB" sz="1600" b="0" dirty="0">
                <a:solidFill>
                  <a:srgbClr val="FFFFFF"/>
                </a:solidFill>
                <a:latin typeface="Arial Nova Light"/>
              </a:rPr>
              <a:t>  </a:t>
            </a:r>
            <a:br>
              <a:rPr lang="en-GB" sz="1600" b="0" dirty="0">
                <a:solidFill>
                  <a:srgbClr val="FFFFFF"/>
                </a:solidFill>
                <a:latin typeface="Arial Nova Light"/>
              </a:rPr>
            </a:br>
            <a:r>
              <a:rPr lang="en-GB" sz="1600" b="0" dirty="0">
                <a:solidFill>
                  <a:srgbClr val="FFFFFF"/>
                </a:solidFill>
                <a:latin typeface="Arial Nova Light"/>
              </a:rPr>
              <a:t>   </a:t>
            </a:r>
            <a:r>
              <a:rPr sz="1600" b="0" dirty="0">
                <a:solidFill>
                  <a:srgbClr val="FFFFFF"/>
                </a:solidFill>
                <a:latin typeface="Arial Nova Light"/>
              </a:rPr>
              <a:t>running the rest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0" dirty="0">
                <a:solidFill>
                  <a:srgbClr val="FFFFFF"/>
                </a:solidFill>
                <a:latin typeface="Arial Nova Light"/>
              </a:rPr>
              <a:t>•  Lint and validate after each slice </a:t>
            </a:r>
            <a:r>
              <a:rPr lang="en-GB" sz="1600" b="0" dirty="0">
                <a:solidFill>
                  <a:srgbClr val="FFFFFF"/>
                </a:solidFill>
                <a:latin typeface="Arial Nova Light"/>
              </a:rPr>
              <a:t>-</a:t>
            </a:r>
            <a:r>
              <a:rPr sz="1600" b="0" dirty="0">
                <a:solidFill>
                  <a:srgbClr val="FFFFFF"/>
                </a:solidFill>
                <a:latin typeface="Arial Nova Light"/>
              </a:rPr>
              <a:t> not at the </a:t>
            </a:r>
            <a:br>
              <a:rPr lang="en-GB" sz="1600" b="0" dirty="0">
                <a:solidFill>
                  <a:srgbClr val="FFFFFF"/>
                </a:solidFill>
                <a:latin typeface="Arial Nova Light"/>
              </a:rPr>
            </a:br>
            <a:r>
              <a:rPr lang="en-GB" sz="1600" b="0" dirty="0">
                <a:solidFill>
                  <a:srgbClr val="FFFFFF"/>
                </a:solidFill>
                <a:latin typeface="Arial Nova Light"/>
              </a:rPr>
              <a:t>   </a:t>
            </a:r>
            <a:r>
              <a:rPr sz="1600" b="0" dirty="0">
                <a:solidFill>
                  <a:srgbClr val="FFFFFF"/>
                </a:solidFill>
                <a:latin typeface="Arial Nova Light"/>
              </a:rPr>
              <a:t>very end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 dirty="0">
                <a:solidFill>
                  <a:srgbClr val="FFFFFF"/>
                </a:solidFill>
                <a:latin typeface="Arial Nova Light"/>
              </a:rPr>
              <a:t>•  Pause, redirect, or cherry-pick at any point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 Kit runs the process. Blueprint Assist knows the platform.</a:t>
            </a:r>
          </a:p>
        </p:txBody>
      </p:sp>
      <p:sp>
        <p:nvSpPr>
          <p:cNvPr id="3" name="anim00_sk"/>
          <p:cNvSpPr/>
          <p:nvPr/>
        </p:nvSpPr>
        <p:spPr>
          <a:xfrm>
            <a:off x="548640" y="1645920"/>
            <a:ext cx="5486400" cy="2286000"/>
          </a:xfrm>
          <a:prstGeom prst="roundRect">
            <a:avLst>
              <a:gd name="adj" fmla="val 55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nim00_sktxt"/>
          <p:cNvSpPr txBox="1"/>
          <p:nvPr/>
        </p:nvSpPr>
        <p:spPr>
          <a:xfrm>
            <a:off x="914400" y="1874519"/>
            <a:ext cx="4846320" cy="1324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dirty="0">
                <a:solidFill>
                  <a:srgbClr val="FFFFFF"/>
                </a:solidFill>
                <a:latin typeface="Arial Nova Light"/>
              </a:rPr>
              <a:t>SPEC KIT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 dirty="0">
                <a:solidFill>
                  <a:srgbClr val="FFFFFF"/>
                </a:solidFill>
                <a:latin typeface="Arial Nova Light"/>
              </a:rPr>
              <a:t>The discipline: constitution → spec → plan → tasks. </a:t>
            </a:r>
            <a:br>
              <a:rPr lang="en-GB" sz="1600" b="0" dirty="0">
                <a:solidFill>
                  <a:srgbClr val="FFFFFF"/>
                </a:solidFill>
                <a:latin typeface="Arial Nova Light"/>
              </a:rPr>
            </a:br>
            <a:br>
              <a:rPr lang="en-GB" sz="1600" b="0" dirty="0">
                <a:solidFill>
                  <a:srgbClr val="FFFFFF"/>
                </a:solidFill>
                <a:latin typeface="Arial Nova Light"/>
              </a:rPr>
            </a:br>
            <a:r>
              <a:rPr b="0" dirty="0">
                <a:solidFill>
                  <a:srgbClr val="FFFFFF"/>
                </a:solidFill>
                <a:latin typeface="Arial Nova Light"/>
              </a:rPr>
              <a:t>General-purpose </a:t>
            </a:r>
            <a:r>
              <a:rPr lang="en-GB" b="0" dirty="0">
                <a:solidFill>
                  <a:srgbClr val="FFFFFF"/>
                </a:solidFill>
                <a:latin typeface="Arial Nova Light"/>
              </a:rPr>
              <a:t>-</a:t>
            </a:r>
            <a:r>
              <a:rPr b="0" dirty="0">
                <a:solidFill>
                  <a:srgbClr val="FFFFFF"/>
                </a:solidFill>
                <a:latin typeface="Arial Nova Light"/>
              </a:rPr>
              <a:t> it knows nothing about DAP.</a:t>
            </a:r>
            <a:endParaRPr sz="1600" b="0" dirty="0">
              <a:solidFill>
                <a:srgbClr val="FFFFFF"/>
              </a:solidFill>
              <a:latin typeface="Arial Nova Light"/>
            </a:endParaRPr>
          </a:p>
        </p:txBody>
      </p:sp>
      <p:sp>
        <p:nvSpPr>
          <p:cNvPr id="5" name="anim01_bpa"/>
          <p:cNvSpPr/>
          <p:nvPr/>
        </p:nvSpPr>
        <p:spPr>
          <a:xfrm>
            <a:off x="6263640" y="1645920"/>
            <a:ext cx="5394960" cy="2286000"/>
          </a:xfrm>
          <a:prstGeom prst="roundRect">
            <a:avLst>
              <a:gd name="adj" fmla="val 5500"/>
            </a:avLst>
          </a:prstGeom>
          <a:solidFill>
            <a:srgbClr val="0B7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nim01_bpatxt"/>
          <p:cNvSpPr txBox="1"/>
          <p:nvPr/>
        </p:nvSpPr>
        <p:spPr>
          <a:xfrm>
            <a:off x="6629400" y="1874519"/>
            <a:ext cx="4754880" cy="1695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dirty="0">
                <a:solidFill>
                  <a:srgbClr val="FFFFFF"/>
                </a:solidFill>
                <a:latin typeface="Arial Nova Light"/>
              </a:rPr>
              <a:t>BLUEPRINT ASSIST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0" dirty="0">
                <a:solidFill>
                  <a:srgbClr val="FFFFFF"/>
                </a:solidFill>
                <a:latin typeface="Arial Nova Light"/>
              </a:rPr>
              <a:t>The domain: skills and plugin docs that ground the agent in what DAP can actually do.</a:t>
            </a:r>
          </a:p>
        </p:txBody>
      </p:sp>
      <p:sp>
        <p:nvSpPr>
          <p:cNvPr id="7" name="anim02_loop"/>
          <p:cNvSpPr/>
          <p:nvPr/>
        </p:nvSpPr>
        <p:spPr>
          <a:xfrm>
            <a:off x="685800" y="466344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Arial Nova"/>
              </a:rPr>
              <a:t>build a slice</a:t>
            </a:r>
          </a:p>
        </p:txBody>
      </p:sp>
      <p:sp>
        <p:nvSpPr>
          <p:cNvPr id="8" name="anim03_larr"/>
          <p:cNvSpPr/>
          <p:nvPr/>
        </p:nvSpPr>
        <p:spPr>
          <a:xfrm>
            <a:off x="3209544" y="4754880"/>
            <a:ext cx="237744" cy="457200"/>
          </a:xfrm>
          <a:prstGeom prst="rightArrow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nim03_loop"/>
          <p:cNvSpPr/>
          <p:nvPr/>
        </p:nvSpPr>
        <p:spPr>
          <a:xfrm>
            <a:off x="3474720" y="466344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004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Arial Nova"/>
              </a:rPr>
              <a:t>bpa blueprint lint</a:t>
            </a:r>
          </a:p>
        </p:txBody>
      </p:sp>
      <p:sp>
        <p:nvSpPr>
          <p:cNvPr id="10" name="anim04_larr"/>
          <p:cNvSpPr/>
          <p:nvPr/>
        </p:nvSpPr>
        <p:spPr>
          <a:xfrm>
            <a:off x="5998464" y="4754880"/>
            <a:ext cx="237744" cy="457200"/>
          </a:xfrm>
          <a:prstGeom prst="rightArrow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nim04_loop"/>
          <p:cNvSpPr/>
          <p:nvPr/>
        </p:nvSpPr>
        <p:spPr>
          <a:xfrm>
            <a:off x="6263640" y="466344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Arial Nova"/>
              </a:rPr>
              <a:t>bpa blueprint validate</a:t>
            </a:r>
          </a:p>
        </p:txBody>
      </p:sp>
      <p:sp>
        <p:nvSpPr>
          <p:cNvPr id="12" name="anim05_larr"/>
          <p:cNvSpPr/>
          <p:nvPr/>
        </p:nvSpPr>
        <p:spPr>
          <a:xfrm>
            <a:off x="8787384" y="4754880"/>
            <a:ext cx="237744" cy="457200"/>
          </a:xfrm>
          <a:prstGeom prst="rightArrow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nim05_loop"/>
          <p:cNvSpPr/>
          <p:nvPr/>
        </p:nvSpPr>
        <p:spPr>
          <a:xfrm>
            <a:off x="9052559" y="466344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0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Arial Nova"/>
              </a:rPr>
              <a:t>bpa monitor</a:t>
            </a:r>
          </a:p>
        </p:txBody>
      </p:sp>
      <p:sp>
        <p:nvSpPr>
          <p:cNvPr id="14" name="anim05_lcap"/>
          <p:cNvSpPr txBox="1"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4A5563"/>
                </a:solidFill>
                <a:latin typeface="Arial Nova Light"/>
              </a:rPr>
              <a:t>Every slice passes the platform's own quality gates before the next one starts.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testing flow: gates per slice, live tests before done</a:t>
            </a:r>
          </a:p>
        </p:txBody>
      </p:sp>
      <p:sp>
        <p:nvSpPr>
          <p:cNvPr id="148" name="slice_hdr"/>
          <p:cNvSpPr txBox="1"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300" b="1" dirty="0">
                <a:solidFill>
                  <a:srgbClr val="0672CB"/>
                </a:solidFill>
                <a:latin typeface="Arial Nova"/>
                <a:cs typeface="Arial Nova"/>
              </a:rPr>
              <a:t>EVERY SLICE</a:t>
            </a:r>
            <a:r>
              <a:rPr lang="en-US" sz="1300" b="0" dirty="0">
                <a:solidFill>
                  <a:srgbClr val="5A6B7D"/>
                </a:solidFill>
                <a:latin typeface="Arial Nova Light"/>
                <a:cs typeface="Arial Nova Light"/>
              </a:rPr>
              <a:t>  static checks, judged from results not exit codes (§5.2)</a:t>
            </a:r>
          </a:p>
        </p:txBody>
      </p:sp>
      <p:sp>
        <p:nvSpPr>
          <p:cNvPr id="149" name="slice0"/>
          <p:cNvSpPr/>
          <p:nvPr/>
        </p:nvSpPr>
        <p:spPr>
          <a:xfrm>
            <a:off x="548640" y="1874520"/>
            <a:ext cx="2491740" cy="594360"/>
          </a:xfrm>
          <a:prstGeom prst="roundRect">
            <a:avLst>
              <a:gd name="adj" fmla="val 50000"/>
            </a:avLst>
          </a:prstGeom>
          <a:solidFill>
            <a:srgbClr val="0D2155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FFFFFF"/>
                </a:solidFill>
                <a:latin typeface="Arial Nova"/>
                <a:cs typeface="Arial Nova"/>
              </a:rPr>
              <a:t>build a slice</a:t>
            </a:r>
          </a:p>
        </p:txBody>
      </p:sp>
      <p:sp>
        <p:nvSpPr>
          <p:cNvPr id="150" name="slice0_arrow"/>
          <p:cNvSpPr/>
          <p:nvPr/>
        </p:nvSpPr>
        <p:spPr>
          <a:xfrm>
            <a:off x="3131820" y="2025396"/>
            <a:ext cx="182880" cy="292608"/>
          </a:xfrm>
          <a:prstGeom prst="rightArrow">
            <a:avLst/>
          </a:prstGeom>
          <a:solidFill>
            <a:srgbClr val="0672C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51" name="slice1"/>
          <p:cNvSpPr/>
          <p:nvPr/>
        </p:nvSpPr>
        <p:spPr>
          <a:xfrm>
            <a:off x="3406140" y="1874520"/>
            <a:ext cx="2491740" cy="594360"/>
          </a:xfrm>
          <a:prstGeom prst="roundRect">
            <a:avLst>
              <a:gd name="adj" fmla="val 50000"/>
            </a:avLst>
          </a:prstGeom>
          <a:solidFill>
            <a:srgbClr val="00468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FFFFFF"/>
                </a:solidFill>
                <a:latin typeface="Arial Nova"/>
                <a:cs typeface="Arial Nova"/>
              </a:rPr>
              <a:t>lint --verify --schema</a:t>
            </a:r>
          </a:p>
        </p:txBody>
      </p:sp>
      <p:sp>
        <p:nvSpPr>
          <p:cNvPr id="152" name="slice1_arrow"/>
          <p:cNvSpPr/>
          <p:nvPr/>
        </p:nvSpPr>
        <p:spPr>
          <a:xfrm>
            <a:off x="5989320" y="2025396"/>
            <a:ext cx="182880" cy="292608"/>
          </a:xfrm>
          <a:prstGeom prst="rightArrow">
            <a:avLst/>
          </a:prstGeom>
          <a:solidFill>
            <a:srgbClr val="0672C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53" name="slice2"/>
          <p:cNvSpPr/>
          <p:nvPr/>
        </p:nvSpPr>
        <p:spPr>
          <a:xfrm>
            <a:off x="6263640" y="1874520"/>
            <a:ext cx="2491740" cy="594360"/>
          </a:xfrm>
          <a:prstGeom prst="roundRect">
            <a:avLst>
              <a:gd name="adj" fmla="val 50000"/>
            </a:avLst>
          </a:prstGeom>
          <a:solidFill>
            <a:srgbClr val="0672C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FFFFFF"/>
                </a:solidFill>
                <a:latin typeface="Arial Nova"/>
                <a:cs typeface="Arial Nova"/>
              </a:rPr>
              <a:t>validate-all</a:t>
            </a:r>
          </a:p>
        </p:txBody>
      </p:sp>
      <p:sp>
        <p:nvSpPr>
          <p:cNvPr id="154" name="slice2_arrow"/>
          <p:cNvSpPr/>
          <p:nvPr/>
        </p:nvSpPr>
        <p:spPr>
          <a:xfrm>
            <a:off x="8846820" y="2025396"/>
            <a:ext cx="182880" cy="292608"/>
          </a:xfrm>
          <a:prstGeom prst="rightArrow">
            <a:avLst/>
          </a:prstGeom>
          <a:solidFill>
            <a:srgbClr val="0672C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55" name="slice3"/>
          <p:cNvSpPr/>
          <p:nvPr/>
        </p:nvSpPr>
        <p:spPr>
          <a:xfrm>
            <a:off x="9121140" y="1874520"/>
            <a:ext cx="2491740" cy="594360"/>
          </a:xfrm>
          <a:prstGeom prst="roundRect">
            <a:avLst>
              <a:gd name="adj" fmla="val 50000"/>
            </a:avLst>
          </a:prstGeom>
          <a:solidFill>
            <a:srgbClr val="0B7C84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FFFFFF"/>
                </a:solidFill>
                <a:latin typeface="Arial Nova"/>
                <a:cs typeface="Arial Nova"/>
              </a:rPr>
              <a:t>Risk Analysis review</a:t>
            </a:r>
          </a:p>
        </p:txBody>
      </p:sp>
      <p:sp>
        <p:nvSpPr>
          <p:cNvPr id="156" name="slice_note"/>
          <p:cNvSpPr txBox="1"/>
          <p:nvPr/>
        </p:nvSpPr>
        <p:spPr>
          <a:xfrm>
            <a:off x="548640" y="256032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5A6B7D"/>
                </a:solidFill>
                <a:latin typeface="Consolas"/>
                <a:cs typeface="Consolas"/>
              </a:rPr>
              <a:t>pass = errorsFound: 0 in lint --json, and Total errors: 0 from validate-all</a:t>
            </a:r>
          </a:p>
        </p:txBody>
      </p:sp>
      <p:sp>
        <p:nvSpPr>
          <p:cNvPr id="157" name="done_hdr"/>
          <p:cNvSpPr txBox="1"/>
          <p:nvPr/>
        </p:nvSpPr>
        <p:spPr>
          <a:xfrm>
            <a:off x="548640" y="306324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300" b="1" dirty="0">
                <a:solidFill>
                  <a:srgbClr val="0672CB"/>
                </a:solidFill>
                <a:latin typeface="Arial Nova"/>
                <a:cs typeface="Arial Nova"/>
              </a:rPr>
              <a:t>BEFORE DONE</a:t>
            </a:r>
            <a:r>
              <a:rPr lang="en-US" sz="1300" b="0" dirty="0">
                <a:solidFill>
                  <a:srgbClr val="5A6B7D"/>
                </a:solidFill>
                <a:latin typeface="Arial Nova Light"/>
                <a:cs typeface="Arial Nova Light"/>
              </a:rPr>
              <a:t>  live tests in a non-production DAP environment (§5.6, §5.7)</a:t>
            </a:r>
          </a:p>
        </p:txBody>
      </p:sp>
      <p:sp>
        <p:nvSpPr>
          <p:cNvPr id="158" name="done0"/>
          <p:cNvSpPr/>
          <p:nvPr/>
        </p:nvSpPr>
        <p:spPr>
          <a:xfrm>
            <a:off x="548640" y="3474720"/>
            <a:ext cx="1920240" cy="594360"/>
          </a:xfrm>
          <a:prstGeom prst="roundRect">
            <a:avLst>
              <a:gd name="adj" fmla="val 50000"/>
            </a:avLst>
          </a:prstGeom>
          <a:solidFill>
            <a:srgbClr val="0D2155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FFFFFF"/>
                </a:solidFill>
                <a:latin typeface="Arial Nova"/>
                <a:cs typeface="Arial Nova"/>
              </a:rPr>
              <a:t>install</a:t>
            </a:r>
          </a:p>
        </p:txBody>
      </p:sp>
      <p:sp>
        <p:nvSpPr>
          <p:cNvPr id="159" name="done0_arrow"/>
          <p:cNvSpPr/>
          <p:nvPr/>
        </p:nvSpPr>
        <p:spPr>
          <a:xfrm>
            <a:off x="2560320" y="3625596"/>
            <a:ext cx="182880" cy="292608"/>
          </a:xfrm>
          <a:prstGeom prst="rightArrow">
            <a:avLst/>
          </a:prstGeom>
          <a:solidFill>
            <a:srgbClr val="0672C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60" name="done1"/>
          <p:cNvSpPr/>
          <p:nvPr/>
        </p:nvSpPr>
        <p:spPr>
          <a:xfrm>
            <a:off x="2834640" y="3474720"/>
            <a:ext cx="1920240" cy="594360"/>
          </a:xfrm>
          <a:prstGeom prst="roundRect">
            <a:avLst>
              <a:gd name="adj" fmla="val 50000"/>
            </a:avLst>
          </a:prstGeom>
          <a:solidFill>
            <a:srgbClr val="00468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FFFFFF"/>
                </a:solidFill>
                <a:latin typeface="Arial Nova"/>
                <a:cs typeface="Arial Nova"/>
              </a:rPr>
              <a:t>re-run: no changes</a:t>
            </a:r>
          </a:p>
        </p:txBody>
      </p:sp>
      <p:sp>
        <p:nvSpPr>
          <p:cNvPr id="161" name="done1_arrow"/>
          <p:cNvSpPr/>
          <p:nvPr/>
        </p:nvSpPr>
        <p:spPr>
          <a:xfrm>
            <a:off x="4846320" y="3625596"/>
            <a:ext cx="182880" cy="292608"/>
          </a:xfrm>
          <a:prstGeom prst="rightArrow">
            <a:avLst/>
          </a:prstGeom>
          <a:solidFill>
            <a:srgbClr val="0672C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62" name="done2"/>
          <p:cNvSpPr/>
          <p:nvPr/>
        </p:nvSpPr>
        <p:spPr>
          <a:xfrm>
            <a:off x="5120640" y="3474720"/>
            <a:ext cx="1920240" cy="594360"/>
          </a:xfrm>
          <a:prstGeom prst="roundRect">
            <a:avLst>
              <a:gd name="adj" fmla="val 50000"/>
            </a:avLst>
          </a:prstGeom>
          <a:solidFill>
            <a:srgbClr val="0672C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FFFFFF"/>
                </a:solidFill>
                <a:latin typeface="Arial Nova"/>
                <a:cs typeface="Arial Nova"/>
              </a:rPr>
              <a:t>acceptance tests</a:t>
            </a:r>
          </a:p>
        </p:txBody>
      </p:sp>
      <p:sp>
        <p:nvSpPr>
          <p:cNvPr id="163" name="done2_arrow"/>
          <p:cNvSpPr/>
          <p:nvPr/>
        </p:nvSpPr>
        <p:spPr>
          <a:xfrm>
            <a:off x="7132320" y="3625596"/>
            <a:ext cx="182880" cy="292608"/>
          </a:xfrm>
          <a:prstGeom prst="rightArrow">
            <a:avLst/>
          </a:prstGeom>
          <a:solidFill>
            <a:srgbClr val="0672C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64" name="done3"/>
          <p:cNvSpPr/>
          <p:nvPr/>
        </p:nvSpPr>
        <p:spPr>
          <a:xfrm>
            <a:off x="7406640" y="3474720"/>
            <a:ext cx="1920240" cy="594360"/>
          </a:xfrm>
          <a:prstGeom prst="roundRect">
            <a:avLst>
              <a:gd name="adj" fmla="val 50000"/>
            </a:avLst>
          </a:prstGeom>
          <a:solidFill>
            <a:srgbClr val="0B7C84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FFFFFF"/>
                </a:solidFill>
                <a:latin typeface="Arial Nova"/>
                <a:cs typeface="Arial Nova"/>
              </a:rPr>
              <a:t>custom workflows</a:t>
            </a:r>
          </a:p>
        </p:txBody>
      </p:sp>
      <p:sp>
        <p:nvSpPr>
          <p:cNvPr id="165" name="done3_arrow"/>
          <p:cNvSpPr/>
          <p:nvPr/>
        </p:nvSpPr>
        <p:spPr>
          <a:xfrm>
            <a:off x="9418320" y="3625596"/>
            <a:ext cx="182880" cy="292608"/>
          </a:xfrm>
          <a:prstGeom prst="rightArrow">
            <a:avLst/>
          </a:prstGeom>
          <a:solidFill>
            <a:srgbClr val="0672C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66" name="done4"/>
          <p:cNvSpPr/>
          <p:nvPr/>
        </p:nvSpPr>
        <p:spPr>
          <a:xfrm>
            <a:off x="9692640" y="3474720"/>
            <a:ext cx="1920240" cy="594360"/>
          </a:xfrm>
          <a:prstGeom prst="roundRect">
            <a:avLst>
              <a:gd name="adj" fmla="val 50000"/>
            </a:avLst>
          </a:prstGeom>
          <a:solidFill>
            <a:srgbClr val="0A5257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FFFFFF"/>
                </a:solidFill>
                <a:latin typeface="Arial Nova"/>
                <a:cs typeface="Arial Nova"/>
              </a:rPr>
              <a:t>uninstall: no orphans</a:t>
            </a:r>
          </a:p>
        </p:txBody>
      </p:sp>
      <p:cxnSp>
        <p:nvCxnSpPr>
          <p:cNvPr id="167" name="fail_down"/>
          <p:cNvCxnSpPr/>
          <p:nvPr/>
        </p:nvCxnSpPr>
        <p:spPr>
          <a:xfrm>
            <a:off x="10652760" y="4069080"/>
            <a:ext cx="0" cy="228600"/>
          </a:xfrm>
          <a:prstGeom prst="line">
            <a:avLst/>
          </a:prstGeom>
          <a:ln w="22225">
            <a:solidFill>
              <a:srgbClr val="0672CB"/>
            </a:solidFill>
            <a:prstDash val="dash"/>
          </a:ln>
        </p:spPr>
      </p:cxnSp>
      <p:cxnSp>
        <p:nvCxnSpPr>
          <p:cNvPr id="168" name="fail_across"/>
          <p:cNvCxnSpPr/>
          <p:nvPr/>
        </p:nvCxnSpPr>
        <p:spPr>
          <a:xfrm flipH="1">
            <a:off x="1508760" y="4297680"/>
            <a:ext cx="9144000" cy="0"/>
          </a:xfrm>
          <a:prstGeom prst="line">
            <a:avLst/>
          </a:prstGeom>
          <a:ln w="22225">
            <a:solidFill>
              <a:srgbClr val="0672CB"/>
            </a:solidFill>
            <a:prstDash val="dash"/>
          </a:ln>
        </p:spPr>
      </p:cxnSp>
      <p:cxnSp>
        <p:nvCxnSpPr>
          <p:cNvPr id="169" name="fail_up"/>
          <p:cNvCxnSpPr/>
          <p:nvPr/>
        </p:nvCxnSpPr>
        <p:spPr>
          <a:xfrm flipV="1">
            <a:off x="1508760" y="4069080"/>
            <a:ext cx="0" cy="228600"/>
          </a:xfrm>
          <a:prstGeom prst="line">
            <a:avLst/>
          </a:prstGeom>
          <a:ln w="22225">
            <a:solidFill>
              <a:srgbClr val="0672CB"/>
            </a:solidFill>
            <a:prstDash val="dash"/>
            <a:tailEnd type="triangle" w="med" len="med"/>
          </a:ln>
        </p:spPr>
      </p:cxnSp>
      <p:sp>
        <p:nvSpPr>
          <p:cNvPr id="170" name="fail_label"/>
          <p:cNvSpPr txBox="1"/>
          <p:nvPr/>
        </p:nvSpPr>
        <p:spPr>
          <a:xfrm>
            <a:off x="1508760" y="432511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0672CB"/>
                </a:solidFill>
                <a:latin typeface="Arial Nova"/>
                <a:cs typeface="Arial Nova"/>
              </a:rPr>
              <a:t>fail? fix and re-run from install - if the fix changes specified behaviour, update the spec first</a:t>
            </a:r>
          </a:p>
        </p:txBody>
      </p:sp>
      <p:sp>
        <p:nvSpPr>
          <p:cNvPr id="171" name="close0_card"/>
          <p:cNvSpPr/>
          <p:nvPr/>
        </p:nvSpPr>
        <p:spPr>
          <a:xfrm>
            <a:off x="548640" y="4754880"/>
            <a:ext cx="5417820" cy="914400"/>
          </a:xfrm>
          <a:prstGeom prst="roundRect">
            <a:avLst>
              <a:gd name="adj" fmla="val 5500"/>
            </a:avLst>
          </a:prstGeom>
          <a:solidFill>
            <a:srgbClr val="EEF3F9"/>
          </a:solidFill>
          <a:ln>
            <a:noFill/>
          </a:ln>
        </p:spPr>
        <p:txBody>
          <a:bodyPr wrap="square" lIns="274320" tIns="91440" rIns="274320" bIns="91440" rtlCol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en-US" sz="1500" b="1" dirty="0">
                <a:solidFill>
                  <a:srgbClr val="0D2155"/>
                </a:solidFill>
                <a:latin typeface="Arial Nova Light"/>
                <a:cs typeface="Arial Nova Light"/>
              </a:rPr>
              <a:t>Record every run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5A6B7D"/>
                </a:solidFill>
                <a:latin typeface="Arial Nova Light"/>
                <a:cs typeface="Arial Nova Light"/>
              </a:rPr>
              <a:t>test-results.md: test task, result, deployment ID, date, dap-bpa version</a:t>
            </a:r>
          </a:p>
        </p:txBody>
      </p:sp>
      <p:sp>
        <p:nvSpPr>
          <p:cNvPr id="172" name="close1_card"/>
          <p:cNvSpPr/>
          <p:nvPr/>
        </p:nvSpPr>
        <p:spPr>
          <a:xfrm>
            <a:off x="6195060" y="4754880"/>
            <a:ext cx="5417820" cy="914400"/>
          </a:xfrm>
          <a:prstGeom prst="roundRect">
            <a:avLst>
              <a:gd name="adj" fmla="val 5500"/>
            </a:avLst>
          </a:prstGeom>
          <a:solidFill>
            <a:srgbClr val="EEF3F9"/>
          </a:solidFill>
          <a:ln>
            <a:noFill/>
          </a:ln>
        </p:spPr>
        <p:txBody>
          <a:bodyPr wrap="square" lIns="274320" tIns="91440" rIns="274320" bIns="91440" rtlCol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en-US" sz="1500" b="1" dirty="0">
                <a:solidFill>
                  <a:srgbClr val="0D2155"/>
                </a:solidFill>
                <a:latin typeface="Arial Nova Light"/>
                <a:cs typeface="Arial Nova Light"/>
              </a:rPr>
              <a:t>Write it back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5A6B7D"/>
                </a:solidFill>
                <a:latin typeface="Arial Nova Light"/>
                <a:cs typeface="Arial Nova Light"/>
              </a:rPr>
              <a:t>Update the spec, plan, and test plan to match what shipped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/>
              <a:t>A blueprint without a spec is a one-off.</a:t>
            </a:r>
          </a:p>
          <a:p>
            <a:r>
              <a:rPr sz="4000" dirty="0"/>
              <a:t>With a spec, it's a product your whole team can deploy, evolve, and maintain.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started: three commands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810512"/>
            <a:ext cx="502920" cy="502920"/>
          </a:xfrm>
          <a:prstGeom prst="ellipse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 Nov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1D2C3B"/>
                </a:solidFill>
                <a:latin typeface="Arial Nova Light"/>
              </a:rPr>
              <a:t>install Spec Kit (one-time)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5880" y="1874519"/>
            <a:ext cx="10241280" cy="68580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00200" y="201168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F0F0F0"/>
                </a:solidFill>
                <a:latin typeface="Consolas"/>
              </a:rPr>
              <a:t>$ uv tool install specify-cli --from git+https://github.com/github/spec-kit.git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136391"/>
            <a:ext cx="502920" cy="502920"/>
          </a:xfrm>
          <a:prstGeom prst="ellipse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 Nov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1D2C3B"/>
                </a:solidFill>
                <a:latin typeface="Arial Nova Light"/>
              </a:rPr>
              <a:t>scaffold a blueprint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3200400"/>
            <a:ext cx="10241280" cy="68580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00200" y="333756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F0F0F0"/>
                </a:solidFill>
                <a:latin typeface="Consolas"/>
              </a:rPr>
              <a:t>$ specify init dap-my-blueprint --ai claude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462272"/>
            <a:ext cx="502920" cy="502920"/>
          </a:xfrm>
          <a:prstGeom prst="ellipse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 Nov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160520"/>
            <a:ext cx="5486400" cy="329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dirty="0">
                <a:solidFill>
                  <a:srgbClr val="1D2C3B"/>
                </a:solidFill>
                <a:latin typeface="Arial Nova Light"/>
              </a:rPr>
              <a:t>open your agent </a:t>
            </a:r>
            <a:r>
              <a:rPr lang="en-GB" sz="1500" b="0" dirty="0">
                <a:solidFill>
                  <a:srgbClr val="1D2C3B"/>
                </a:solidFill>
                <a:latin typeface="Arial Nova Light"/>
              </a:rPr>
              <a:t>-</a:t>
            </a:r>
            <a:r>
              <a:rPr sz="1500" b="0" dirty="0">
                <a:solidFill>
                  <a:srgbClr val="1D2C3B"/>
                </a:solidFill>
                <a:latin typeface="Arial Nova Light"/>
              </a:rPr>
              <a:t> /speckit.* goes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4526279"/>
            <a:ext cx="10241280" cy="68580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00200" y="466344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dirty="0">
                <a:solidFill>
                  <a:srgbClr val="F0F0F0"/>
                </a:solidFill>
                <a:latin typeface="Consolas"/>
              </a:rPr>
              <a:t>$ cd dap-my-blueprint &amp;&amp; </a:t>
            </a:r>
            <a:r>
              <a:rPr sz="1400" b="0" dirty="0" err="1">
                <a:solidFill>
                  <a:srgbClr val="F0F0F0"/>
                </a:solidFill>
                <a:latin typeface="Consolas"/>
              </a:rPr>
              <a:t>claude</a:t>
            </a:r>
            <a:endParaRPr sz="1400" b="0" dirty="0">
              <a:solidFill>
                <a:srgbClr val="F0F0F0"/>
              </a:solidFill>
              <a:latin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56235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1D2C3B"/>
                </a:solidFill>
                <a:latin typeface="Arial Nova Light"/>
              </a:rPr>
              <a:t>You'll need: Python 3.11+  ·  uv  ·  Git  ·  an AI coding agent  ·  the Blueprint Assist CLI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4A5563"/>
                </a:solidFill>
                <a:latin typeface="Arial Nova Light"/>
              </a:rPr>
              <a:t>--ai selects your agent: claude, copilot, gemini, cursor, and more.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Pick a first blueprint you actually need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3566160" cy="3931920"/>
          </a:xfrm>
          <a:prstGeom prst="roundRect">
            <a:avLst>
              <a:gd name="adj" fmla="val 55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C9D7E8"/>
                </a:solidFill>
                <a:latin typeface="Arial Nova Ligh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146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 Nova Light"/>
              </a:rPr>
              <a:t>VM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918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Arial Nova Light"/>
              </a:rPr>
              <a:t>Deploy a configured VM from a blueprint into your hypervisor.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8006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C9D7E8"/>
                </a:solidFill>
                <a:latin typeface="Arial Nova Light"/>
              </a:rPr>
              <a:t>Well-bounded. Easy to validate.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566160" cy="3931920"/>
          </a:xfrm>
          <a:prstGeom prst="roundRect">
            <a:avLst>
              <a:gd name="adj" fmla="val 5500"/>
            </a:avLst>
          </a:prstGeom>
          <a:solidFill>
            <a:srgbClr val="004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965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C9D7E8"/>
                </a:solidFill>
                <a:latin typeface="Arial Nova Ligh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5146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 Nova Light"/>
              </a:rPr>
              <a:t>Container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918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Arial Nova Light"/>
              </a:rPr>
              <a:t>Stand up an app on Kubernetes or Podman with Helm.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8006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C9D7E8"/>
                </a:solidFill>
                <a:latin typeface="Arial Nova Light"/>
              </a:rPr>
              <a:t>Exercises the K8s + Helm plugins.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566160" cy="3931920"/>
          </a:xfrm>
          <a:prstGeom prst="roundRect">
            <a:avLst>
              <a:gd name="adj" fmla="val 5500"/>
            </a:avLst>
          </a:prstGeom>
          <a:solidFill>
            <a:srgbClr val="0B7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1965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C9D7E8"/>
                </a:solidFill>
                <a:latin typeface="Arial Nova Ligh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5146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 Nova Light"/>
              </a:rPr>
              <a:t>Lifecycle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2918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Arial Nova Light"/>
              </a:rPr>
              <a:t>Trigger firmware or BIOS updates from a platform event.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800600"/>
            <a:ext cx="2926080" cy="290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dirty="0">
                <a:solidFill>
                  <a:srgbClr val="C9D7E8"/>
                </a:solidFill>
                <a:latin typeface="Arial Nova Light"/>
              </a:rPr>
              <a:t>High toil today </a:t>
            </a:r>
            <a:r>
              <a:rPr lang="en-GB" sz="1250" b="0" dirty="0">
                <a:solidFill>
                  <a:srgbClr val="C9D7E8"/>
                </a:solidFill>
                <a:latin typeface="Arial Nova Light"/>
              </a:rPr>
              <a:t>-</a:t>
            </a:r>
            <a:r>
              <a:rPr sz="1250" b="0" dirty="0">
                <a:solidFill>
                  <a:srgbClr val="C9D7E8"/>
                </a:solidFill>
                <a:latin typeface="Arial Nova Light"/>
              </a:rPr>
              <a:t> big payoff.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0D2155"/>
                </a:solidFill>
                <a:latin typeface="Arial Nova Light"/>
              </a:rPr>
              <a:t>The best first blueprint is something your team does by hand today.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Dell Tech color update">
  <a:themeElements>
    <a:clrScheme name="Brand Color Evolution">
      <a:dk1>
        <a:srgbClr val="F0F0F0"/>
      </a:dk1>
      <a:lt1>
        <a:srgbClr val="0672CB"/>
      </a:lt1>
      <a:dk2>
        <a:srgbClr val="FFFFFF"/>
      </a:dk2>
      <a:lt2>
        <a:srgbClr val="000000"/>
      </a:lt2>
      <a:accent1>
        <a:srgbClr val="1D2C3B"/>
      </a:accent1>
      <a:accent2>
        <a:srgbClr val="0D2155"/>
      </a:accent2>
      <a:accent3>
        <a:srgbClr val="00468B"/>
      </a:accent3>
      <a:accent4>
        <a:srgbClr val="044E52"/>
      </a:accent4>
      <a:accent5>
        <a:srgbClr val="0B7C84"/>
      </a:accent5>
      <a:accent6>
        <a:srgbClr val="3F205C"/>
      </a:accent6>
      <a:hlink>
        <a:srgbClr val="0672CB"/>
      </a:hlink>
      <a:folHlink>
        <a:srgbClr val="40155C"/>
      </a:folHlink>
    </a:clrScheme>
    <a:fontScheme name="Corporate fonts">
      <a:majorFont>
        <a:latin typeface="Arial Nova Light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1CC3CD47-EF45-432F-9AF9-CFEDCF1F47FF}" vid="{A0E41CA2-901C-421D-9926-B463575B5FE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tents xmlns="c9a8f3c6-4134-4ed2-abf1-9ab44cea38c7" xsi:nil="true"/>
    <TaxCatchAll xmlns="c9a8f3c6-4134-4ed2-abf1-9ab44cea38c7" xsi:nil="true"/>
    <TaxKeywordTaxHTField xmlns="c9a8f3c6-4134-4ed2-abf1-9ab44cea38c7">
      <Terms xmlns="http://schemas.microsoft.com/office/infopath/2007/PartnerControls"/>
    </TaxKeywordTaxHTField>
    <lcf76f155ced4ddcb4097134ff3c332f xmlns="c96a20fd-d0fe-4b05-81eb-937327896eab">
      <Terms xmlns="http://schemas.microsoft.com/office/infopath/2007/PartnerControls"/>
    </lcf76f155ced4ddcb4097134ff3c332f>
    <SiteCategories xmlns="c9a8f3c6-4134-4ed2-abf1-9ab44cea38c7" xsi:nil="true"/>
    <DocumentID xmlns="c9a8f3c6-4134-4ed2-abf1-9ab44cea38c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3681888A0D6F4CAB3F279E1632A492" ma:contentTypeVersion="23" ma:contentTypeDescription="Create a new document." ma:contentTypeScope="" ma:versionID="38faa351c0cca54dc229fc84c720e3ab">
  <xsd:schema xmlns:xsd="http://www.w3.org/2001/XMLSchema" xmlns:xs="http://www.w3.org/2001/XMLSchema" xmlns:p="http://schemas.microsoft.com/office/2006/metadata/properties" xmlns:ns2="c96a20fd-d0fe-4b05-81eb-937327896eab" xmlns:ns3="c9a8f3c6-4134-4ed2-abf1-9ab44cea38c7" targetNamespace="http://schemas.microsoft.com/office/2006/metadata/properties" ma:root="true" ma:fieldsID="9d1a8cc92e345173b13802e0475ad06f" ns2:_="" ns3:_="">
    <xsd:import namespace="c96a20fd-d0fe-4b05-81eb-937327896eab"/>
    <xsd:import namespace="c9a8f3c6-4134-4ed2-abf1-9ab44cea38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iteCategories" minOccurs="0"/>
                <xsd:element ref="ns3:TaxKeywordTaxHTField" minOccurs="0"/>
                <xsd:element ref="ns3:TaxCatchAll" minOccurs="0"/>
                <xsd:element ref="ns3:Contents" minOccurs="0"/>
                <xsd:element ref="ns3:DocumentID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6a20fd-d0fe-4b05-81eb-937327896e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9" nillable="true" ma:taxonomy="true" ma:internalName="lcf76f155ced4ddcb4097134ff3c332f" ma:taxonomyFieldName="MediaServiceImageTags" ma:displayName="Image Tags" ma:readOnly="false" ma:fieldId="{5cf76f15-5ced-4ddc-b409-7134ff3c332f}" ma:taxonomyMulti="true" ma:sspId="f4a8f3d3-8814-4760-a664-575ca63320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a8f3c6-4134-4ed2-abf1-9ab44cea38c7" elementFormDefault="qualified">
    <xsd:import namespace="http://schemas.microsoft.com/office/2006/documentManagement/types"/>
    <xsd:import namespace="http://schemas.microsoft.com/office/infopath/2007/PartnerControls"/>
    <xsd:element name="SiteCategories" ma:index="17" nillable="true" ma:displayName="SiteCategories" ma:default="" ma:internalName="SiteCatego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Enter Choice #1"/>
                  </xsd:restriction>
                </xsd:simpleType>
              </xsd:element>
            </xsd:sequence>
          </xsd:extension>
        </xsd:complexContent>
      </xsd:complexType>
    </xsd:element>
    <xsd:element name="TaxKeywordTaxHTField" ma:index="19" nillable="true" ma:taxonomy="true" ma:internalName="TaxKeywordTaxHTField" ma:taxonomyFieldName="TaxKeyword" ma:displayName="Enterprise Keywords" ma:fieldId="{23f27201-bee3-471e-b2e7-b64fd8b7ca38}" ma:taxonomyMulti="true" ma:sspId="f4a8f3d3-8814-4760-a664-575ca63320f0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20" nillable="true" ma:displayName="Taxonomy Catch All Column" ma:hidden="true" ma:list="{936948ff-7f2c-4484-93b7-cb1e75a429f8}" ma:internalName="TaxCatchAll" ma:showField="CatchAllData" ma:web="c9a8f3c6-4134-4ed2-abf1-9ab44cea38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Contents" ma:index="21" nillable="true" ma:displayName="Contents" ma:internalName="Contents">
      <xsd:simpleType>
        <xsd:restriction base="dms:Note">
          <xsd:maxLength value="255"/>
        </xsd:restriction>
      </xsd:simpleType>
    </xsd:element>
    <xsd:element name="DocumentID" ma:index="22" nillable="true" ma:displayName="DocumentID" ma:internalName="DocumentID">
      <xsd:simpleType>
        <xsd:restriction base="dms:Text">
          <xsd:maxLength value="255"/>
        </xsd:restriction>
      </xsd:simpleType>
    </xsd:element>
    <xsd:element name="SharedWithUsers" ma:index="2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8E51012-B727-4B01-9EE6-0C8A68B96B4B}">
  <ds:schemaRefs>
    <ds:schemaRef ds:uri="http://schemas.openxmlformats.org/package/2006/metadata/core-properties"/>
    <ds:schemaRef ds:uri="http://purl.org/dc/dcmitype/"/>
    <ds:schemaRef ds:uri="c96a20fd-d0fe-4b05-81eb-937327896eab"/>
    <ds:schemaRef ds:uri="http://purl.org/dc/terms/"/>
    <ds:schemaRef ds:uri="http://schemas.microsoft.com/office/2006/documentManagement/types"/>
    <ds:schemaRef ds:uri="c9a8f3c6-4134-4ed2-abf1-9ab44cea38c7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12888767-1ACA-4527-989F-70C1B76C33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6a20fd-d0fe-4b05-81eb-937327896eab"/>
    <ds:schemaRef ds:uri="c9a8f3c6-4134-4ed2-abf1-9ab44cea38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536F5C-77E1-4EDC-B025-4FDDF0DFB1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Dell Technologies Template 2026</Template>
  <TotalTime>25</TotalTime>
  <Words>1824</Words>
  <Application>Microsoft Office PowerPoint</Application>
  <PresentationFormat>Widescreen</PresentationFormat>
  <Paragraphs>289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 </vt:lpstr>
      <vt:lpstr>Aptos</vt:lpstr>
      <vt:lpstr>Arial</vt:lpstr>
      <vt:lpstr>Arial Nova</vt:lpstr>
      <vt:lpstr>Arial Nova Light</vt:lpstr>
      <vt:lpstr>Consolas</vt:lpstr>
      <vt:lpstr>Wingdings</vt:lpstr>
      <vt:lpstr>Dell Tech color update</vt:lpstr>
      <vt:lpstr>From Idea to Running Infrastructure</vt:lpstr>
      <vt:lpstr>AI can write your automation in minutes. Keeping it correct, consistent, and maintainable - that's the hard part.</vt:lpstr>
      <vt:lpstr>Prompt-driven automation loses the plot</vt:lpstr>
      <vt:lpstr>Write down what you want before the AI builds it. Keep that document alive. That's spec-driven development.</vt:lpstr>
      <vt:lpstr>Six steps. Each one narrows the next.</vt:lpstr>
      <vt:lpstr>What you actually get out of it</vt:lpstr>
      <vt:lpstr>First, a 60-second primer: what's a DAP blueprint?</vt:lpstr>
      <vt:lpstr>You already think this way - a blueprint is a spec for infrastructure</vt:lpstr>
      <vt:lpstr>Meet Spec Kit</vt:lpstr>
      <vt:lpstr>Five commands and a test run. Each step reads what the last one produced.</vt:lpstr>
      <vt:lpstr>The constitution: rules that outlive any single blueprint</vt:lpstr>
      <vt:lpstr>What the constitution covers - and how it is checked</vt:lpstr>
      <vt:lpstr>The spec says WHAT and WHY - never HOW</vt:lpstr>
      <vt:lpstr>Testing starts in the spec - not after the code</vt:lpstr>
      <vt:lpstr>The plan is a conversation, not a command</vt:lpstr>
      <vt:lpstr>Build in reviewable slices - not one big bang</vt:lpstr>
      <vt:lpstr>Spec Kit runs the process. Blueprint Assist knows the platform.</vt:lpstr>
      <vt:lpstr>The testing flow: gates per slice, live tests before done</vt:lpstr>
      <vt:lpstr>A blueprint without a spec is a one-off. With a spec, it's a product your whole team can deploy, evolve, and maintain.</vt:lpstr>
      <vt:lpstr>Getting started: three commands</vt:lpstr>
      <vt:lpstr>Pick a first blueprint you actually need</vt:lpstr>
      <vt:lpstr>PowerPoint Presentation</vt:lpstr>
    </vt:vector>
  </TitlesOfParts>
  <Company>Dell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Sonders, Robert</cp:lastModifiedBy>
  <cp:revision>7</cp:revision>
  <dcterms:created xsi:type="dcterms:W3CDTF">2025-06-10T19:07:08Z</dcterms:created>
  <dcterms:modified xsi:type="dcterms:W3CDTF">2026-10-29T05:34:30Z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0x0101008B3681888A0D6F4CAB3F279E1632A492</vt:lpwstr>
  </property>
  <property fmtid="{D5CDD505-2E9C-101B-9397-08002B2CF9AE}" pid="3" name="TaxKeyword">
    <vt:lpwstr/>
  </property>
  <property fmtid="{D5CDD505-2E9C-101B-9397-08002B2CF9AE}" pid="4" name="MediaServiceImageTags">
    <vt:lpwstr/>
  </property>
  <property fmtid="{D5CDD505-2E9C-101B-9397-08002B2CF9AE}" pid="5" name="MSIP_Label_dad3be33-4108-4738-9e07-d8656a181486_Enabled">
    <vt:lpwstr>true</vt:lpwstr>
  </property>
  <property fmtid="{D5CDD505-2E9C-101B-9397-08002B2CF9AE}" pid="6" name="MSIP_Label_dad3be33-4108-4738-9e07-d8656a181486_SetDate">
    <vt:lpwstr>2026-07-04T00:13:23Z</vt:lpwstr>
  </property>
  <property fmtid="{D5CDD505-2E9C-101B-9397-08002B2CF9AE}" pid="7" name="MSIP_Label_dad3be33-4108-4738-9e07-d8656a181486_Method">
    <vt:lpwstr>Privileged</vt:lpwstr>
  </property>
  <property fmtid="{D5CDD505-2E9C-101B-9397-08002B2CF9AE}" pid="8" name="MSIP_Label_dad3be33-4108-4738-9e07-d8656a181486_Name">
    <vt:lpwstr>Public No Visual Label</vt:lpwstr>
  </property>
  <property fmtid="{D5CDD505-2E9C-101B-9397-08002B2CF9AE}" pid="9" name="MSIP_Label_dad3be33-4108-4738-9e07-d8656a181486_SiteId">
    <vt:lpwstr>945c199a-83a2-4e80-9f8c-5a91be5752dd</vt:lpwstr>
  </property>
  <property fmtid="{D5CDD505-2E9C-101B-9397-08002B2CF9AE}" pid="10" name="MSIP_Label_dad3be33-4108-4738-9e07-d8656a181486_ActionId">
    <vt:lpwstr>4f5098b3-66fc-4924-869c-b80fe86058c0</vt:lpwstr>
  </property>
  <property fmtid="{D5CDD505-2E9C-101B-9397-08002B2CF9AE}" pid="11" name="MSIP_Label_dad3be33-4108-4738-9e07-d8656a181486_ContentBits">
    <vt:lpwstr>0</vt:lpwstr>
  </property>
  <property fmtid="{D5CDD505-2E9C-101B-9397-08002B2CF9AE}" pid="12" name="MSIP_Label_dad3be33-4108-4738-9e07-d8656a181486_Tag">
    <vt:lpwstr>10, 0, 1, 1</vt:lpwstr>
  </property>
</Properties>
</file>